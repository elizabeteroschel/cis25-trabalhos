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Barlow"/>
      <p:regular r:id="rId18"/>
    </p:embeddedFont>
    <p:embeddedFont>
      <p:font typeface="Barlow"/>
      <p:regular r:id="rId19"/>
    </p:embeddedFont>
    <p:embeddedFont>
      <p:font typeface="Barlow"/>
      <p:regular r:id="rId20"/>
    </p:embeddedFont>
    <p:embeddedFont>
      <p:font typeface="Barlow"/>
      <p:regular r:id="rId21"/>
    </p:embeddedFont>
    <p:embeddedFont>
      <p:font typeface="Montserrat"/>
      <p:regular r:id="rId22"/>
    </p:embeddedFont>
    <p:embeddedFont>
      <p:font typeface="Montserrat"/>
      <p:regular r:id="rId23"/>
    </p:embeddedFont>
    <p:embeddedFont>
      <p:font typeface="Montserrat"/>
      <p:regular r:id="rId24"/>
    </p:embeddedFont>
    <p:embeddedFont>
      <p:font typeface="Montserrat"/>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04C8E"/>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6.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jNqovfcPXmE" TargetMode="External"/><Relationship Id="rId1" Type="http://schemas.openxmlformats.org/officeDocument/2006/relationships/image" Target="../media/image-9-1.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2077522" y="3251002"/>
            <a:ext cx="4988838" cy="623530"/>
          </a:xfrm>
          <a:prstGeom prst="rect">
            <a:avLst/>
          </a:prstGeom>
          <a:noFill/>
          <a:ln/>
        </p:spPr>
        <p:txBody>
          <a:bodyPr wrap="none" lIns="0" tIns="0" rIns="0" bIns="0" rtlCol="0" anchor="t"/>
          <a:lstStyle/>
          <a:p>
            <a:pPr algn="ctr" indent="0" marL="0">
              <a:lnSpc>
                <a:spcPts val="4900"/>
              </a:lnSpc>
              <a:buNone/>
            </a:pPr>
            <a:r>
              <a:rPr lang="en-US" sz="3900" b="1" dirty="0">
                <a:solidFill>
                  <a:srgbClr val="FFFFFF"/>
                </a:solidFill>
                <a:latin typeface="Barlow Bold" pitchFamily="34" charset="0"/>
                <a:ea typeface="Barlow Bold" pitchFamily="34" charset="-122"/>
                <a:cs typeface="Barlow Bold" pitchFamily="34" charset="-120"/>
              </a:rPr>
              <a:t>Expense Tracker</a:t>
            </a:r>
            <a:endParaRPr lang="en-US" sz="3900" dirty="0"/>
          </a:p>
        </p:txBody>
      </p:sp>
      <p:sp>
        <p:nvSpPr>
          <p:cNvPr id="4" name="Text 1"/>
          <p:cNvSpPr/>
          <p:nvPr/>
        </p:nvSpPr>
        <p:spPr>
          <a:xfrm>
            <a:off x="758309" y="4158853"/>
            <a:ext cx="7627382" cy="303252"/>
          </a:xfrm>
          <a:prstGeom prst="rect">
            <a:avLst/>
          </a:prstGeom>
          <a:noFill/>
          <a:ln/>
        </p:spPr>
        <p:txBody>
          <a:bodyPr wrap="none" lIns="0" tIns="0" rIns="0" bIns="0" rtlCol="0" anchor="t"/>
          <a:lstStyle/>
          <a:p>
            <a:pPr algn="ctr" indent="0" marL="0">
              <a:lnSpc>
                <a:spcPts val="2350"/>
              </a:lnSpc>
              <a:buNone/>
            </a:pPr>
            <a:r>
              <a:rPr lang="en-US" sz="1450" dirty="0">
                <a:solidFill>
                  <a:srgbClr val="FFFFFF"/>
                </a:solidFill>
                <a:latin typeface="Montserrat" pitchFamily="34" charset="0"/>
                <a:ea typeface="Montserrat" pitchFamily="34" charset="-122"/>
                <a:cs typeface="Montserrat" pitchFamily="34" charset="-120"/>
              </a:rPr>
              <a:t>CIS 25 Final Project</a:t>
            </a:r>
            <a:endParaRPr lang="en-US" sz="1450" dirty="0"/>
          </a:p>
        </p:txBody>
      </p:sp>
      <p:sp>
        <p:nvSpPr>
          <p:cNvPr id="5" name="Text 2"/>
          <p:cNvSpPr/>
          <p:nvPr/>
        </p:nvSpPr>
        <p:spPr>
          <a:xfrm>
            <a:off x="758309" y="4675346"/>
            <a:ext cx="7627382" cy="303252"/>
          </a:xfrm>
          <a:prstGeom prst="rect">
            <a:avLst/>
          </a:prstGeom>
          <a:noFill/>
          <a:ln/>
        </p:spPr>
        <p:txBody>
          <a:bodyPr wrap="none" lIns="0" tIns="0" rIns="0" bIns="0" rtlCol="0" anchor="t"/>
          <a:lstStyle/>
          <a:p>
            <a:pPr algn="ctr" indent="0" marL="0">
              <a:lnSpc>
                <a:spcPts val="2350"/>
              </a:lnSpc>
              <a:buNone/>
            </a:pPr>
            <a:r>
              <a:rPr lang="en-US" sz="1450" dirty="0">
                <a:solidFill>
                  <a:srgbClr val="FFFFFF"/>
                </a:solidFill>
                <a:latin typeface="Montserrat" pitchFamily="34" charset="0"/>
                <a:ea typeface="Montserrat" pitchFamily="34" charset="-122"/>
                <a:cs typeface="Montserrat" pitchFamily="34" charset="-120"/>
              </a:rPr>
              <a:t>Presented by: Elizabete Roschel</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69701"/>
          </a:xfrm>
          <a:prstGeom prst="rect">
            <a:avLst/>
          </a:prstGeom>
        </p:spPr>
      </p:pic>
      <p:sp>
        <p:nvSpPr>
          <p:cNvPr id="3" name="Text 0"/>
          <p:cNvSpPr/>
          <p:nvPr/>
        </p:nvSpPr>
        <p:spPr>
          <a:xfrm>
            <a:off x="758309" y="3510796"/>
            <a:ext cx="4988838" cy="623530"/>
          </a:xfrm>
          <a:prstGeom prst="rect">
            <a:avLst/>
          </a:prstGeom>
          <a:noFill/>
          <a:ln/>
        </p:spPr>
        <p:txBody>
          <a:bodyPr wrap="none" lIns="0" tIns="0" rIns="0" bIns="0" rtlCol="0" anchor="t"/>
          <a:lstStyle/>
          <a:p>
            <a:pPr algn="l" indent="0" marL="0">
              <a:lnSpc>
                <a:spcPts val="4900"/>
              </a:lnSpc>
              <a:buNone/>
            </a:pPr>
            <a:r>
              <a:rPr lang="en-US" sz="3900" b="1" dirty="0">
                <a:solidFill>
                  <a:srgbClr val="000000"/>
                </a:solidFill>
                <a:latin typeface="Barlow Bold" pitchFamily="34" charset="0"/>
                <a:ea typeface="Barlow Bold" pitchFamily="34" charset="-122"/>
                <a:cs typeface="Barlow Bold" pitchFamily="34" charset="-120"/>
              </a:rPr>
              <a:t>Project Overview</a:t>
            </a:r>
            <a:endParaRPr lang="en-US" sz="3900" dirty="0"/>
          </a:p>
        </p:txBody>
      </p:sp>
      <p:sp>
        <p:nvSpPr>
          <p:cNvPr id="4" name="Shape 1"/>
          <p:cNvSpPr/>
          <p:nvPr/>
        </p:nvSpPr>
        <p:spPr>
          <a:xfrm>
            <a:off x="758309" y="4418648"/>
            <a:ext cx="4244816" cy="2669738"/>
          </a:xfrm>
          <a:prstGeom prst="roundRect">
            <a:avLst>
              <a:gd name="adj" fmla="val 4110"/>
            </a:avLst>
          </a:prstGeom>
          <a:solidFill>
            <a:srgbClr val="F2F2F2"/>
          </a:solidFill>
          <a:ln w="22860">
            <a:solidFill>
              <a:srgbClr val="C1C3D0"/>
            </a:solidFill>
            <a:prstDash val="solid"/>
          </a:ln>
          <a:effectLst>
            <a:outerShdw sx="100000" sy="100000" kx="0" ky="0" algn="bl" rotWithShape="0" blurRad="46990" dist="22860" dir="13500000">
              <a:srgbClr val="ffffff">
                <a:alpha val="70000"/>
              </a:srgbClr>
            </a:outerShdw>
          </a:effectLst>
        </p:spPr>
      </p:sp>
      <p:pic>
        <p:nvPicPr>
          <p:cNvPr id="5" name="Image 1" descr="preencoded.png">    </p:cNvPr>
          <p:cNvPicPr>
            <a:picLocks noChangeAspect="1"/>
          </p:cNvPicPr>
          <p:nvPr/>
        </p:nvPicPr>
        <p:blipFill>
          <a:blip r:embed="rId2"/>
          <a:stretch>
            <a:fillRect/>
          </a:stretch>
        </p:blipFill>
        <p:spPr>
          <a:xfrm>
            <a:off x="735449" y="4418648"/>
            <a:ext cx="91440" cy="2669738"/>
          </a:xfrm>
          <a:prstGeom prst="rect">
            <a:avLst/>
          </a:prstGeom>
        </p:spPr>
      </p:pic>
      <p:sp>
        <p:nvSpPr>
          <p:cNvPr id="6" name="Text 2"/>
          <p:cNvSpPr/>
          <p:nvPr/>
        </p:nvSpPr>
        <p:spPr>
          <a:xfrm>
            <a:off x="1039297" y="4631055"/>
            <a:ext cx="2494359" cy="311706"/>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Barlow Bold" pitchFamily="34" charset="0"/>
                <a:ea typeface="Barlow Bold" pitchFamily="34" charset="-122"/>
                <a:cs typeface="Barlow Bold" pitchFamily="34" charset="-120"/>
              </a:rPr>
              <a:t>What is it?</a:t>
            </a:r>
            <a:endParaRPr lang="en-US" sz="1950" dirty="0"/>
          </a:p>
        </p:txBody>
      </p:sp>
      <p:sp>
        <p:nvSpPr>
          <p:cNvPr id="7" name="Text 3"/>
          <p:cNvSpPr/>
          <p:nvPr/>
        </p:nvSpPr>
        <p:spPr>
          <a:xfrm>
            <a:off x="1039297" y="5056465"/>
            <a:ext cx="3751421" cy="181951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The Expense Tracker is a robust command-line application designed to streamline personal financial management. It provides users with an intuitive interface to manage their transactions efficiently.</a:t>
            </a:r>
            <a:endParaRPr lang="en-US" sz="1450" dirty="0"/>
          </a:p>
        </p:txBody>
      </p:sp>
      <p:sp>
        <p:nvSpPr>
          <p:cNvPr id="8" name="Shape 4"/>
          <p:cNvSpPr/>
          <p:nvPr/>
        </p:nvSpPr>
        <p:spPr>
          <a:xfrm>
            <a:off x="5192673" y="4418648"/>
            <a:ext cx="4244935" cy="2669738"/>
          </a:xfrm>
          <a:prstGeom prst="roundRect">
            <a:avLst>
              <a:gd name="adj" fmla="val 4110"/>
            </a:avLst>
          </a:prstGeom>
          <a:solidFill>
            <a:srgbClr val="F2F2F2"/>
          </a:solidFill>
          <a:ln w="22860">
            <a:solidFill>
              <a:srgbClr val="C1C3D0"/>
            </a:solidFill>
            <a:prstDash val="solid"/>
          </a:ln>
          <a:effectLst>
            <a:outerShdw sx="100000" sy="100000" kx="0" ky="0" algn="bl" rotWithShape="0" blurRad="46990" dist="22860" dir="13500000">
              <a:srgbClr val="ffffff">
                <a:alpha val="70000"/>
              </a:srgbClr>
            </a:outerShdw>
          </a:effectLst>
        </p:spPr>
      </p:sp>
      <p:pic>
        <p:nvPicPr>
          <p:cNvPr id="9" name="Image 2" descr="preencoded.png">    </p:cNvPr>
          <p:cNvPicPr>
            <a:picLocks noChangeAspect="1"/>
          </p:cNvPicPr>
          <p:nvPr/>
        </p:nvPicPr>
        <p:blipFill>
          <a:blip r:embed="rId3"/>
          <a:stretch>
            <a:fillRect/>
          </a:stretch>
        </p:blipFill>
        <p:spPr>
          <a:xfrm>
            <a:off x="5169813" y="4418648"/>
            <a:ext cx="91440" cy="2669738"/>
          </a:xfrm>
          <a:prstGeom prst="rect">
            <a:avLst/>
          </a:prstGeom>
        </p:spPr>
      </p:pic>
      <p:sp>
        <p:nvSpPr>
          <p:cNvPr id="10" name="Text 5"/>
          <p:cNvSpPr/>
          <p:nvPr/>
        </p:nvSpPr>
        <p:spPr>
          <a:xfrm>
            <a:off x="5473660" y="4631055"/>
            <a:ext cx="2494359" cy="311706"/>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Barlow Bold" pitchFamily="34" charset="0"/>
                <a:ea typeface="Barlow Bold" pitchFamily="34" charset="-122"/>
                <a:cs typeface="Barlow Bold" pitchFamily="34" charset="-120"/>
              </a:rPr>
              <a:t>Core Functionality</a:t>
            </a:r>
            <a:endParaRPr lang="en-US" sz="1950" dirty="0"/>
          </a:p>
        </p:txBody>
      </p:sp>
      <p:sp>
        <p:nvSpPr>
          <p:cNvPr id="11" name="Text 6"/>
          <p:cNvSpPr/>
          <p:nvPr/>
        </p:nvSpPr>
        <p:spPr>
          <a:xfrm>
            <a:off x="5473660" y="5056465"/>
            <a:ext cx="3751540" cy="181951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Users can seamlessly add new transactions, view existing records, and apply filters to categorize their financial activities. This ensures a clear and organized overview of all income and expenses.</a:t>
            </a:r>
            <a:endParaRPr lang="en-US" sz="1450" dirty="0"/>
          </a:p>
        </p:txBody>
      </p:sp>
      <p:sp>
        <p:nvSpPr>
          <p:cNvPr id="12" name="Shape 7"/>
          <p:cNvSpPr/>
          <p:nvPr/>
        </p:nvSpPr>
        <p:spPr>
          <a:xfrm>
            <a:off x="9627156" y="4418648"/>
            <a:ext cx="4244816" cy="2669738"/>
          </a:xfrm>
          <a:prstGeom prst="roundRect">
            <a:avLst>
              <a:gd name="adj" fmla="val 4110"/>
            </a:avLst>
          </a:prstGeom>
          <a:solidFill>
            <a:srgbClr val="F2F2F2"/>
          </a:solidFill>
          <a:ln w="22860">
            <a:solidFill>
              <a:srgbClr val="C1C3D0"/>
            </a:solidFill>
            <a:prstDash val="solid"/>
          </a:ln>
          <a:effectLst>
            <a:outerShdw sx="100000" sy="100000" kx="0" ky="0" algn="bl" rotWithShape="0" blurRad="46990" dist="22860" dir="13500000">
              <a:srgbClr val="ffffff">
                <a:alpha val="70000"/>
              </a:srgbClr>
            </a:outerShdw>
          </a:effectLst>
        </p:spPr>
      </p:sp>
      <p:pic>
        <p:nvPicPr>
          <p:cNvPr id="13" name="Image 3" descr="preencoded.png">    </p:cNvPr>
          <p:cNvPicPr>
            <a:picLocks noChangeAspect="1"/>
          </p:cNvPicPr>
          <p:nvPr/>
        </p:nvPicPr>
        <p:blipFill>
          <a:blip r:embed="rId4"/>
          <a:stretch>
            <a:fillRect/>
          </a:stretch>
        </p:blipFill>
        <p:spPr>
          <a:xfrm>
            <a:off x="9604296" y="4418648"/>
            <a:ext cx="91440" cy="2669738"/>
          </a:xfrm>
          <a:prstGeom prst="rect">
            <a:avLst/>
          </a:prstGeom>
        </p:spPr>
      </p:pic>
      <p:sp>
        <p:nvSpPr>
          <p:cNvPr id="14" name="Text 8"/>
          <p:cNvSpPr/>
          <p:nvPr/>
        </p:nvSpPr>
        <p:spPr>
          <a:xfrm>
            <a:off x="9908143" y="4631055"/>
            <a:ext cx="2494359" cy="311706"/>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Barlow Bold" pitchFamily="34" charset="0"/>
                <a:ea typeface="Barlow Bold" pitchFamily="34" charset="-122"/>
                <a:cs typeface="Barlow Bold" pitchFamily="34" charset="-120"/>
              </a:rPr>
              <a:t>Data Persistence</a:t>
            </a:r>
            <a:endParaRPr lang="en-US" sz="1950" dirty="0"/>
          </a:p>
        </p:txBody>
      </p:sp>
      <p:sp>
        <p:nvSpPr>
          <p:cNvPr id="15" name="Text 9"/>
          <p:cNvSpPr/>
          <p:nvPr/>
        </p:nvSpPr>
        <p:spPr>
          <a:xfrm>
            <a:off x="9908143" y="5056465"/>
            <a:ext cx="3751421" cy="181951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A key feature of the application is its persistent data storage, achieved through efficient file I/O operations. This means all transaction data is securely saved and loaded, ensuring no loss of information between sessions.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2135624"/>
            <a:ext cx="4988838" cy="623530"/>
          </a:xfrm>
          <a:prstGeom prst="rect">
            <a:avLst/>
          </a:prstGeom>
          <a:noFill/>
          <a:ln/>
        </p:spPr>
        <p:txBody>
          <a:bodyPr wrap="none" lIns="0" tIns="0" rIns="0" bIns="0" rtlCol="0" anchor="t"/>
          <a:lstStyle/>
          <a:p>
            <a:pPr algn="l" indent="0" marL="0">
              <a:lnSpc>
                <a:spcPts val="4900"/>
              </a:lnSpc>
              <a:buNone/>
            </a:pPr>
            <a:r>
              <a:rPr lang="en-US" sz="3900" b="1" dirty="0">
                <a:solidFill>
                  <a:srgbClr val="7068F4"/>
                </a:solidFill>
                <a:latin typeface="Barlow Bold" pitchFamily="34" charset="0"/>
                <a:ea typeface="Barlow Bold" pitchFamily="34" charset="-122"/>
                <a:cs typeface="Barlow Bold" pitchFamily="34" charset="-120"/>
              </a:rPr>
              <a:t>Core Features</a:t>
            </a:r>
            <a:endParaRPr lang="en-US" sz="3900" dirty="0"/>
          </a:p>
        </p:txBody>
      </p:sp>
      <p:pic>
        <p:nvPicPr>
          <p:cNvPr id="3" name="Image 0" descr="preencoded.png">    </p:cNvPr>
          <p:cNvPicPr>
            <a:picLocks noChangeAspect="1"/>
          </p:cNvPicPr>
          <p:nvPr/>
        </p:nvPicPr>
        <p:blipFill>
          <a:blip r:embed="rId1"/>
          <a:stretch>
            <a:fillRect/>
          </a:stretch>
        </p:blipFill>
        <p:spPr>
          <a:xfrm>
            <a:off x="758309" y="3138249"/>
            <a:ext cx="473869" cy="473869"/>
          </a:xfrm>
          <a:prstGeom prst="rect">
            <a:avLst/>
          </a:prstGeom>
        </p:spPr>
      </p:pic>
      <p:sp>
        <p:nvSpPr>
          <p:cNvPr id="4" name="Text 1"/>
          <p:cNvSpPr/>
          <p:nvPr/>
        </p:nvSpPr>
        <p:spPr>
          <a:xfrm>
            <a:off x="758309" y="3849053"/>
            <a:ext cx="2494359" cy="311706"/>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Barlow Bold" pitchFamily="34" charset="0"/>
                <a:ea typeface="Barlow Bold" pitchFamily="34" charset="-122"/>
                <a:cs typeface="Barlow Bold" pitchFamily="34" charset="-120"/>
              </a:rPr>
              <a:t>Add Transactions</a:t>
            </a:r>
            <a:endParaRPr lang="en-US" sz="1950" dirty="0"/>
          </a:p>
        </p:txBody>
      </p:sp>
      <p:sp>
        <p:nvSpPr>
          <p:cNvPr id="5" name="Text 2"/>
          <p:cNvSpPr/>
          <p:nvPr/>
        </p:nvSpPr>
        <p:spPr>
          <a:xfrm>
            <a:off x="758309" y="4274463"/>
            <a:ext cx="4213265" cy="181951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Users can easily input new financial records, including the date, a detailed description, the relevant category, the monetary amount, and whether it's an income or an expense. This comprehensive input ensures accurate tracking.</a:t>
            </a:r>
            <a:endParaRPr lang="en-US" sz="1450" dirty="0"/>
          </a:p>
        </p:txBody>
      </p:sp>
      <p:pic>
        <p:nvPicPr>
          <p:cNvPr id="6" name="Image 1" descr="preencoded.png">    </p:cNvPr>
          <p:cNvPicPr>
            <a:picLocks noChangeAspect="1"/>
          </p:cNvPicPr>
          <p:nvPr/>
        </p:nvPicPr>
        <p:blipFill>
          <a:blip r:embed="rId2"/>
          <a:stretch>
            <a:fillRect/>
          </a:stretch>
        </p:blipFill>
        <p:spPr>
          <a:xfrm>
            <a:off x="5208508" y="3138249"/>
            <a:ext cx="473869" cy="473869"/>
          </a:xfrm>
          <a:prstGeom prst="rect">
            <a:avLst/>
          </a:prstGeom>
        </p:spPr>
      </p:pic>
      <p:sp>
        <p:nvSpPr>
          <p:cNvPr id="7" name="Text 3"/>
          <p:cNvSpPr/>
          <p:nvPr/>
        </p:nvSpPr>
        <p:spPr>
          <a:xfrm>
            <a:off x="5208508" y="3849053"/>
            <a:ext cx="2494359" cy="311706"/>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Barlow Bold" pitchFamily="34" charset="0"/>
                <a:ea typeface="Barlow Bold" pitchFamily="34" charset="-122"/>
                <a:cs typeface="Barlow Bold" pitchFamily="34" charset="-120"/>
              </a:rPr>
              <a:t>Filter by Category</a:t>
            </a:r>
            <a:endParaRPr lang="en-US" sz="1950" dirty="0"/>
          </a:p>
        </p:txBody>
      </p:sp>
      <p:sp>
        <p:nvSpPr>
          <p:cNvPr id="8" name="Text 4"/>
          <p:cNvSpPr/>
          <p:nvPr/>
        </p:nvSpPr>
        <p:spPr>
          <a:xfrm>
            <a:off x="5208508" y="4274463"/>
            <a:ext cx="4213265" cy="181951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The application allows for precise filtering of transactions based on their assigned categories. This feature enables users to quickly analyze spending or income within specific areas, providing granular insights into their financial habits.</a:t>
            </a:r>
            <a:endParaRPr lang="en-US" sz="1450" dirty="0"/>
          </a:p>
        </p:txBody>
      </p:sp>
      <p:pic>
        <p:nvPicPr>
          <p:cNvPr id="9" name="Image 2" descr="preencoded.png">    </p:cNvPr>
          <p:cNvPicPr>
            <a:picLocks noChangeAspect="1"/>
          </p:cNvPicPr>
          <p:nvPr/>
        </p:nvPicPr>
        <p:blipFill>
          <a:blip r:embed="rId3"/>
          <a:stretch>
            <a:fillRect/>
          </a:stretch>
        </p:blipFill>
        <p:spPr>
          <a:xfrm>
            <a:off x="9658707" y="3138249"/>
            <a:ext cx="473869" cy="473869"/>
          </a:xfrm>
          <a:prstGeom prst="rect">
            <a:avLst/>
          </a:prstGeom>
        </p:spPr>
      </p:pic>
      <p:sp>
        <p:nvSpPr>
          <p:cNvPr id="10" name="Text 5"/>
          <p:cNvSpPr/>
          <p:nvPr/>
        </p:nvSpPr>
        <p:spPr>
          <a:xfrm>
            <a:off x="9658707" y="3849053"/>
            <a:ext cx="2494359" cy="311706"/>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Barlow Bold" pitchFamily="34" charset="0"/>
                <a:ea typeface="Barlow Bold" pitchFamily="34" charset="-122"/>
                <a:cs typeface="Barlow Bold" pitchFamily="34" charset="-120"/>
              </a:rPr>
              <a:t>Summary Report</a:t>
            </a:r>
            <a:endParaRPr lang="en-US" sz="1950" dirty="0"/>
          </a:p>
        </p:txBody>
      </p:sp>
      <p:sp>
        <p:nvSpPr>
          <p:cNvPr id="11" name="Text 6"/>
          <p:cNvSpPr/>
          <p:nvPr/>
        </p:nvSpPr>
        <p:spPr>
          <a:xfrm>
            <a:off x="9658707" y="4274463"/>
            <a:ext cx="4213384" cy="1819513"/>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A vital component is the summary report, which provides a clear breakdown of total income, total expenses, and the overall balance. This report offers a high-level financial snapshot, aiding in quick assessment of financial health.</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7113" y="493038"/>
            <a:ext cx="4717971" cy="589717"/>
          </a:xfrm>
          <a:prstGeom prst="rect">
            <a:avLst/>
          </a:prstGeom>
          <a:noFill/>
          <a:ln/>
        </p:spPr>
        <p:txBody>
          <a:bodyPr wrap="none" lIns="0" tIns="0" rIns="0" bIns="0" rtlCol="0" anchor="t"/>
          <a:lstStyle/>
          <a:p>
            <a:pPr algn="l" indent="0" marL="0">
              <a:lnSpc>
                <a:spcPts val="4600"/>
              </a:lnSpc>
              <a:buNone/>
            </a:pPr>
            <a:r>
              <a:rPr lang="en-US" sz="3700" b="1" dirty="0">
                <a:solidFill>
                  <a:srgbClr val="000000"/>
                </a:solidFill>
                <a:latin typeface="Barlow Bold" pitchFamily="34" charset="0"/>
                <a:ea typeface="Barlow Bold" pitchFamily="34" charset="-122"/>
                <a:cs typeface="Barlow Bold" pitchFamily="34" charset="-120"/>
              </a:rPr>
              <a:t>Data Storage</a:t>
            </a:r>
            <a:endParaRPr lang="en-US" sz="3700" dirty="0"/>
          </a:p>
        </p:txBody>
      </p:sp>
      <p:sp>
        <p:nvSpPr>
          <p:cNvPr id="3" name="Text 1"/>
          <p:cNvSpPr/>
          <p:nvPr/>
        </p:nvSpPr>
        <p:spPr>
          <a:xfrm>
            <a:off x="717113" y="1530787"/>
            <a:ext cx="2358985" cy="294799"/>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Barlow Bold" pitchFamily="34" charset="0"/>
                <a:ea typeface="Barlow Bold" pitchFamily="34" charset="-122"/>
                <a:cs typeface="Barlow Bold" pitchFamily="34" charset="-120"/>
              </a:rPr>
              <a:t>How Data is Stored</a:t>
            </a:r>
            <a:endParaRPr lang="en-US" sz="1850" dirty="0"/>
          </a:p>
        </p:txBody>
      </p:sp>
      <p:sp>
        <p:nvSpPr>
          <p:cNvPr id="4" name="Text 2"/>
          <p:cNvSpPr/>
          <p:nvPr/>
        </p:nvSpPr>
        <p:spPr>
          <a:xfrm>
            <a:off x="717113" y="2004774"/>
            <a:ext cx="6379369" cy="860465"/>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Montserrat" pitchFamily="34" charset="0"/>
                <a:ea typeface="Montserrat" pitchFamily="34" charset="-122"/>
                <a:cs typeface="Montserrat" pitchFamily="34" charset="-120"/>
              </a:rPr>
              <a:t>The Expense Tracker utilizes a simple yet effective method for data persistence: a plain text file named </a:t>
            </a:r>
            <a:pPr algn="l" indent="0" marL="0">
              <a:lnSpc>
                <a:spcPts val="2250"/>
              </a:lnSpc>
              <a:buNone/>
            </a:pPr>
            <a:r>
              <a:rPr lang="en-US" sz="1400" b="1" dirty="0">
                <a:solidFill>
                  <a:srgbClr val="272525"/>
                </a:solidFill>
                <a:latin typeface="Montserrat" pitchFamily="34" charset="0"/>
                <a:ea typeface="Montserrat" pitchFamily="34" charset="-122"/>
                <a:cs typeface="Montserrat" pitchFamily="34" charset="-120"/>
              </a:rPr>
              <a:t>data.txt</a:t>
            </a:r>
            <a:pPr algn="l" indent="0" marL="0">
              <a:lnSpc>
                <a:spcPts val="2250"/>
              </a:lnSpc>
              <a:buNone/>
            </a:pPr>
            <a:r>
              <a:rPr lang="en-US" sz="1400" dirty="0">
                <a:solidFill>
                  <a:srgbClr val="272525"/>
                </a:solidFill>
                <a:latin typeface="Montserrat" pitchFamily="34" charset="0"/>
                <a:ea typeface="Montserrat" pitchFamily="34" charset="-122"/>
                <a:cs typeface="Montserrat" pitchFamily="34" charset="-120"/>
              </a:rPr>
              <a:t>. This approach ensures portability and ease of access to the stored information.</a:t>
            </a:r>
            <a:endParaRPr lang="en-US" sz="1400" dirty="0"/>
          </a:p>
        </p:txBody>
      </p:sp>
      <p:sp>
        <p:nvSpPr>
          <p:cNvPr id="5" name="Text 3"/>
          <p:cNvSpPr/>
          <p:nvPr/>
        </p:nvSpPr>
        <p:spPr>
          <a:xfrm>
            <a:off x="717113" y="3026569"/>
            <a:ext cx="6379369" cy="860465"/>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Montserrat" pitchFamily="34" charset="0"/>
                <a:ea typeface="Montserrat" pitchFamily="34" charset="-122"/>
                <a:cs typeface="Montserrat" pitchFamily="34" charset="-120"/>
              </a:rPr>
              <a:t>Each transaction is meticulously recorded within this file, with specific fields separated by delimiters to maintain structural integrity. The data points stored for each transaction include:</a:t>
            </a:r>
            <a:endParaRPr lang="en-US" sz="1400" dirty="0"/>
          </a:p>
        </p:txBody>
      </p:sp>
      <p:sp>
        <p:nvSpPr>
          <p:cNvPr id="6" name="Text 4"/>
          <p:cNvSpPr/>
          <p:nvPr/>
        </p:nvSpPr>
        <p:spPr>
          <a:xfrm>
            <a:off x="717113" y="4048363"/>
            <a:ext cx="6379369" cy="28682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272525"/>
                </a:solidFill>
                <a:latin typeface="Montserrat" pitchFamily="34" charset="0"/>
                <a:ea typeface="Montserrat" pitchFamily="34" charset="-122"/>
                <a:cs typeface="Montserrat" pitchFamily="34" charset="-120"/>
              </a:rPr>
              <a:t>Date of the transaction</a:t>
            </a:r>
            <a:endParaRPr lang="en-US" sz="1400" dirty="0"/>
          </a:p>
        </p:txBody>
      </p:sp>
      <p:sp>
        <p:nvSpPr>
          <p:cNvPr id="7" name="Text 5"/>
          <p:cNvSpPr/>
          <p:nvPr/>
        </p:nvSpPr>
        <p:spPr>
          <a:xfrm>
            <a:off x="717113" y="4397931"/>
            <a:ext cx="6379369" cy="28682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272525"/>
                </a:solidFill>
                <a:latin typeface="Montserrat" pitchFamily="34" charset="0"/>
                <a:ea typeface="Montserrat" pitchFamily="34" charset="-122"/>
                <a:cs typeface="Montserrat" pitchFamily="34" charset="-120"/>
              </a:rPr>
              <a:t>A brief description</a:t>
            </a:r>
            <a:endParaRPr lang="en-US" sz="1400" dirty="0"/>
          </a:p>
        </p:txBody>
      </p:sp>
      <p:sp>
        <p:nvSpPr>
          <p:cNvPr id="8" name="Text 6"/>
          <p:cNvSpPr/>
          <p:nvPr/>
        </p:nvSpPr>
        <p:spPr>
          <a:xfrm>
            <a:off x="717113" y="4747498"/>
            <a:ext cx="6379369" cy="28682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272525"/>
                </a:solidFill>
                <a:latin typeface="Montserrat" pitchFamily="34" charset="0"/>
                <a:ea typeface="Montserrat" pitchFamily="34" charset="-122"/>
                <a:cs typeface="Montserrat" pitchFamily="34" charset="-120"/>
              </a:rPr>
              <a:t>The assigned category</a:t>
            </a:r>
            <a:endParaRPr lang="en-US" sz="1400" dirty="0"/>
          </a:p>
        </p:txBody>
      </p:sp>
      <p:sp>
        <p:nvSpPr>
          <p:cNvPr id="9" name="Text 7"/>
          <p:cNvSpPr/>
          <p:nvPr/>
        </p:nvSpPr>
        <p:spPr>
          <a:xfrm>
            <a:off x="717113" y="5097066"/>
            <a:ext cx="6379369" cy="28682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272525"/>
                </a:solidFill>
                <a:latin typeface="Montserrat" pitchFamily="34" charset="0"/>
                <a:ea typeface="Montserrat" pitchFamily="34" charset="-122"/>
                <a:cs typeface="Montserrat" pitchFamily="34" charset="-120"/>
              </a:rPr>
              <a:t>The monetary amount</a:t>
            </a:r>
            <a:endParaRPr lang="en-US" sz="1400" dirty="0"/>
          </a:p>
        </p:txBody>
      </p:sp>
      <p:sp>
        <p:nvSpPr>
          <p:cNvPr id="10" name="Text 8"/>
          <p:cNvSpPr/>
          <p:nvPr/>
        </p:nvSpPr>
        <p:spPr>
          <a:xfrm>
            <a:off x="717113" y="5446633"/>
            <a:ext cx="6379369" cy="286822"/>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272525"/>
                </a:solidFill>
                <a:latin typeface="Montserrat" pitchFamily="34" charset="0"/>
                <a:ea typeface="Montserrat" pitchFamily="34" charset="-122"/>
                <a:cs typeface="Montserrat" pitchFamily="34" charset="-120"/>
              </a:rPr>
              <a:t>A boolean flag indicating if it's income (isIncome)</a:t>
            </a:r>
            <a:endParaRPr lang="en-US" sz="1400" dirty="0"/>
          </a:p>
        </p:txBody>
      </p:sp>
      <p:sp>
        <p:nvSpPr>
          <p:cNvPr id="11" name="Text 9"/>
          <p:cNvSpPr/>
          <p:nvPr/>
        </p:nvSpPr>
        <p:spPr>
          <a:xfrm>
            <a:off x="717113" y="5894784"/>
            <a:ext cx="6379369" cy="1147286"/>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Montserrat" pitchFamily="34" charset="0"/>
                <a:ea typeface="Montserrat" pitchFamily="34" charset="-122"/>
                <a:cs typeface="Montserrat" pitchFamily="34" charset="-120"/>
              </a:rPr>
              <a:t>The application is designed to automatically save all current transaction data to </a:t>
            </a:r>
            <a:pPr algn="l" indent="0" marL="0">
              <a:lnSpc>
                <a:spcPts val="2250"/>
              </a:lnSpc>
              <a:buNone/>
            </a:pPr>
            <a:r>
              <a:rPr lang="en-US" sz="1400" b="1" dirty="0">
                <a:solidFill>
                  <a:srgbClr val="272525"/>
                </a:solidFill>
                <a:latin typeface="Montserrat" pitchFamily="34" charset="0"/>
                <a:ea typeface="Montserrat" pitchFamily="34" charset="-122"/>
                <a:cs typeface="Montserrat" pitchFamily="34" charset="-120"/>
              </a:rPr>
              <a:t>data.txt</a:t>
            </a:r>
            <a:pPr algn="l" indent="0" marL="0">
              <a:lnSpc>
                <a:spcPts val="2250"/>
              </a:lnSpc>
              <a:buNone/>
            </a:pPr>
            <a:r>
              <a:rPr lang="en-US" sz="1400" dirty="0">
                <a:solidFill>
                  <a:srgbClr val="272525"/>
                </a:solidFill>
                <a:latin typeface="Montserrat" pitchFamily="34" charset="0"/>
                <a:ea typeface="Montserrat" pitchFamily="34" charset="-122"/>
                <a:cs typeface="Montserrat" pitchFamily="34" charset="-120"/>
              </a:rPr>
              <a:t> upon exiting and load existing data from the file each time it is launched. This ensures that all financial records are consistently preserved across different sessions.</a:t>
            </a:r>
            <a:endParaRPr lang="en-US" sz="1400" dirty="0"/>
          </a:p>
        </p:txBody>
      </p:sp>
      <p:pic>
        <p:nvPicPr>
          <p:cNvPr id="12" name="Image 0" descr="preencoded.png">    </p:cNvPr>
          <p:cNvPicPr>
            <a:picLocks noChangeAspect="1"/>
          </p:cNvPicPr>
          <p:nvPr/>
        </p:nvPicPr>
        <p:blipFill>
          <a:blip r:embed="rId1"/>
          <a:stretch>
            <a:fillRect/>
          </a:stretch>
        </p:blipFill>
        <p:spPr>
          <a:xfrm>
            <a:off x="7541538" y="1553289"/>
            <a:ext cx="6379369" cy="63793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0568" y="502801"/>
            <a:ext cx="4916924" cy="600789"/>
          </a:xfrm>
          <a:prstGeom prst="rect">
            <a:avLst/>
          </a:prstGeom>
          <a:noFill/>
          <a:ln/>
        </p:spPr>
        <p:txBody>
          <a:bodyPr wrap="none" lIns="0" tIns="0" rIns="0" bIns="0" rtlCol="0" anchor="t"/>
          <a:lstStyle/>
          <a:p>
            <a:pPr algn="l" indent="0" marL="0">
              <a:lnSpc>
                <a:spcPts val="4700"/>
              </a:lnSpc>
              <a:buNone/>
            </a:pPr>
            <a:r>
              <a:rPr lang="en-US" sz="3750" b="1" dirty="0">
                <a:solidFill>
                  <a:srgbClr val="7068F4"/>
                </a:solidFill>
                <a:latin typeface="Barlow Bold" pitchFamily="34" charset="0"/>
                <a:ea typeface="Barlow Bold" pitchFamily="34" charset="-122"/>
                <a:cs typeface="Barlow Bold" pitchFamily="34" charset="-120"/>
              </a:rPr>
              <a:t>Classes and Structures</a:t>
            </a:r>
            <a:endParaRPr lang="en-US" sz="3750" dirty="0"/>
          </a:p>
        </p:txBody>
      </p:sp>
      <p:sp>
        <p:nvSpPr>
          <p:cNvPr id="3" name="Shape 1"/>
          <p:cNvSpPr/>
          <p:nvPr/>
        </p:nvSpPr>
        <p:spPr>
          <a:xfrm>
            <a:off x="730568" y="1742837"/>
            <a:ext cx="6493312" cy="5983962"/>
          </a:xfrm>
          <a:prstGeom prst="roundRect">
            <a:avLst>
              <a:gd name="adj" fmla="val 1834"/>
            </a:avLst>
          </a:prstGeom>
          <a:solidFill>
            <a:srgbClr val="EEEFF5"/>
          </a:solidFill>
          <a:ln/>
          <a:effectLst>
            <a:outerShdw sx="100000" sy="100000" kx="0" ky="0" algn="bl" rotWithShape="0" blurRad="44450" dist="21590" dir="13500000">
              <a:srgbClr val="ffffff">
                <a:alpha val="70000"/>
              </a:srgbClr>
            </a:outerShdw>
          </a:effectLst>
        </p:spPr>
      </p:sp>
      <p:pic>
        <p:nvPicPr>
          <p:cNvPr id="4" name="Image 0" descr="preencoded.png">    </p:cNvPr>
          <p:cNvPicPr>
            <a:picLocks noChangeAspect="1"/>
          </p:cNvPicPr>
          <p:nvPr/>
        </p:nvPicPr>
        <p:blipFill>
          <a:blip r:embed="rId1"/>
          <a:stretch>
            <a:fillRect/>
          </a:stretch>
        </p:blipFill>
        <p:spPr>
          <a:xfrm>
            <a:off x="730568" y="1719977"/>
            <a:ext cx="6493312" cy="91440"/>
          </a:xfrm>
          <a:prstGeom prst="rect">
            <a:avLst/>
          </a:prstGeom>
        </p:spPr>
      </p:pic>
      <p:pic>
        <p:nvPicPr>
          <p:cNvPr id="5" name="Image 1" descr="preencoded.png">    </p:cNvPr>
          <p:cNvPicPr>
            <a:picLocks noChangeAspect="1"/>
          </p:cNvPicPr>
          <p:nvPr/>
        </p:nvPicPr>
        <p:blipFill>
          <a:blip r:embed="rId2"/>
          <a:stretch>
            <a:fillRect/>
          </a:stretch>
        </p:blipFill>
        <p:spPr>
          <a:xfrm>
            <a:off x="3703201" y="1468874"/>
            <a:ext cx="547926" cy="547926"/>
          </a:xfrm>
          <a:prstGeom prst="rect">
            <a:avLst/>
          </a:prstGeom>
        </p:spPr>
      </p:pic>
      <p:pic>
        <p:nvPicPr>
          <p:cNvPr id="6" name="Image 2" descr="preencoded.png">    </p:cNvPr>
          <p:cNvPicPr>
            <a:picLocks noChangeAspect="1"/>
          </p:cNvPicPr>
          <p:nvPr/>
        </p:nvPicPr>
        <p:blipFill>
          <a:blip r:embed="rId3"/>
          <a:stretch>
            <a:fillRect/>
          </a:stretch>
        </p:blipFill>
        <p:spPr>
          <a:xfrm>
            <a:off x="3867626" y="1605796"/>
            <a:ext cx="219075" cy="273963"/>
          </a:xfrm>
          <a:prstGeom prst="rect">
            <a:avLst/>
          </a:prstGeom>
        </p:spPr>
      </p:pic>
      <p:sp>
        <p:nvSpPr>
          <p:cNvPr id="7" name="Text 2"/>
          <p:cNvSpPr/>
          <p:nvPr/>
        </p:nvSpPr>
        <p:spPr>
          <a:xfrm>
            <a:off x="936069" y="2199442"/>
            <a:ext cx="2403158" cy="300276"/>
          </a:xfrm>
          <a:prstGeom prst="rect">
            <a:avLst/>
          </a:prstGeom>
          <a:noFill/>
          <a:ln/>
        </p:spPr>
        <p:txBody>
          <a:bodyPr wrap="none" lIns="0" tIns="0" rIns="0" bIns="0" rtlCol="0" anchor="t"/>
          <a:lstStyle/>
          <a:p>
            <a:pPr algn="l" indent="0" marL="0">
              <a:lnSpc>
                <a:spcPts val="2350"/>
              </a:lnSpc>
              <a:buNone/>
            </a:pPr>
            <a:r>
              <a:rPr lang="en-US" sz="1850" b="1" dirty="0">
                <a:solidFill>
                  <a:srgbClr val="272525"/>
                </a:solidFill>
                <a:latin typeface="Barlow Bold" pitchFamily="34" charset="0"/>
                <a:ea typeface="Barlow Bold" pitchFamily="34" charset="-122"/>
                <a:cs typeface="Barlow Bold" pitchFamily="34" charset="-120"/>
              </a:rPr>
              <a:t>Transaction Class</a:t>
            </a:r>
            <a:endParaRPr lang="en-US" sz="1850" dirty="0"/>
          </a:p>
        </p:txBody>
      </p:sp>
      <p:sp>
        <p:nvSpPr>
          <p:cNvPr id="8" name="Text 3"/>
          <p:cNvSpPr/>
          <p:nvPr/>
        </p:nvSpPr>
        <p:spPr>
          <a:xfrm>
            <a:off x="936069" y="2609255"/>
            <a:ext cx="6082308" cy="876538"/>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This class serves as the fundamental building block for managing individual financial entries. It encapsulates all the essential details of a single transaction, ensuring data integrity and consistency.</a:t>
            </a:r>
            <a:endParaRPr lang="en-US" sz="1400" dirty="0"/>
          </a:p>
        </p:txBody>
      </p:sp>
      <p:sp>
        <p:nvSpPr>
          <p:cNvPr id="9" name="Text 4"/>
          <p:cNvSpPr/>
          <p:nvPr/>
        </p:nvSpPr>
        <p:spPr>
          <a:xfrm>
            <a:off x="936069" y="3595330"/>
            <a:ext cx="6082308" cy="292179"/>
          </a:xfrm>
          <a:prstGeom prst="rect">
            <a:avLst/>
          </a:prstGeom>
          <a:noFill/>
          <a:ln/>
        </p:spPr>
        <p:txBody>
          <a:bodyPr wrap="none" lIns="0" tIns="0" rIns="0" bIns="0" rtlCol="0" anchor="t"/>
          <a:lstStyle/>
          <a:p>
            <a:pPr algn="l" marL="342900" indent="-342900">
              <a:lnSpc>
                <a:spcPts val="2300"/>
              </a:lnSpc>
              <a:buSzPct val="100000"/>
              <a:buChar char="•"/>
            </a:pPr>
            <a:r>
              <a:rPr lang="en-US" sz="1400" b="1" dirty="0">
                <a:solidFill>
                  <a:srgbClr val="272525"/>
                </a:solidFill>
                <a:latin typeface="Montserrat" pitchFamily="34" charset="0"/>
                <a:ea typeface="Montserrat" pitchFamily="34" charset="-122"/>
                <a:cs typeface="Montserrat" pitchFamily="34" charset="-120"/>
              </a:rPr>
              <a:t>Date:</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Records the specific date when the transaction occurred.</a:t>
            </a:r>
            <a:endParaRPr lang="en-US" sz="1400" dirty="0"/>
          </a:p>
        </p:txBody>
      </p:sp>
      <p:sp>
        <p:nvSpPr>
          <p:cNvPr id="10" name="Text 5"/>
          <p:cNvSpPr/>
          <p:nvPr/>
        </p:nvSpPr>
        <p:spPr>
          <a:xfrm>
            <a:off x="936069" y="3951327"/>
            <a:ext cx="6082308" cy="584359"/>
          </a:xfrm>
          <a:prstGeom prst="rect">
            <a:avLst/>
          </a:prstGeom>
          <a:noFill/>
          <a:ln/>
        </p:spPr>
        <p:txBody>
          <a:bodyPr wrap="square" lIns="0" tIns="0" rIns="0" bIns="0" rtlCol="0" anchor="t"/>
          <a:lstStyle/>
          <a:p>
            <a:pPr algn="l" marL="342900" indent="-342900">
              <a:lnSpc>
                <a:spcPts val="2300"/>
              </a:lnSpc>
              <a:buSzPct val="100000"/>
              <a:buChar char="•"/>
            </a:pPr>
            <a:r>
              <a:rPr lang="en-US" sz="1400" b="1" dirty="0">
                <a:solidFill>
                  <a:srgbClr val="272525"/>
                </a:solidFill>
                <a:latin typeface="Montserrat" pitchFamily="34" charset="0"/>
                <a:ea typeface="Montserrat" pitchFamily="34" charset="-122"/>
                <a:cs typeface="Montserrat" pitchFamily="34" charset="-120"/>
              </a:rPr>
              <a:t>Description:</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Provides a brief textual explanation of the transaction.</a:t>
            </a:r>
            <a:endParaRPr lang="en-US" sz="1400" dirty="0"/>
          </a:p>
        </p:txBody>
      </p:sp>
      <p:sp>
        <p:nvSpPr>
          <p:cNvPr id="11" name="Text 6"/>
          <p:cNvSpPr/>
          <p:nvPr/>
        </p:nvSpPr>
        <p:spPr>
          <a:xfrm>
            <a:off x="936069" y="4599503"/>
            <a:ext cx="6082308" cy="584359"/>
          </a:xfrm>
          <a:prstGeom prst="rect">
            <a:avLst/>
          </a:prstGeom>
          <a:noFill/>
          <a:ln/>
        </p:spPr>
        <p:txBody>
          <a:bodyPr wrap="square" lIns="0" tIns="0" rIns="0" bIns="0" rtlCol="0" anchor="t"/>
          <a:lstStyle/>
          <a:p>
            <a:pPr algn="l" marL="342900" indent="-342900">
              <a:lnSpc>
                <a:spcPts val="2300"/>
              </a:lnSpc>
              <a:buSzPct val="100000"/>
              <a:buChar char="•"/>
            </a:pPr>
            <a:r>
              <a:rPr lang="en-US" sz="1400" b="1" dirty="0">
                <a:solidFill>
                  <a:srgbClr val="272525"/>
                </a:solidFill>
                <a:latin typeface="Montserrat" pitchFamily="34" charset="0"/>
                <a:ea typeface="Montserrat" pitchFamily="34" charset="-122"/>
                <a:cs typeface="Montserrat" pitchFamily="34" charset="-120"/>
              </a:rPr>
              <a:t>Category:</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Assigns a predefined category to the transaction for filtering and reporting.</a:t>
            </a:r>
            <a:endParaRPr lang="en-US" sz="1400" dirty="0"/>
          </a:p>
        </p:txBody>
      </p:sp>
      <p:sp>
        <p:nvSpPr>
          <p:cNvPr id="12" name="Text 7"/>
          <p:cNvSpPr/>
          <p:nvPr/>
        </p:nvSpPr>
        <p:spPr>
          <a:xfrm>
            <a:off x="936069" y="5247680"/>
            <a:ext cx="6082308" cy="292179"/>
          </a:xfrm>
          <a:prstGeom prst="rect">
            <a:avLst/>
          </a:prstGeom>
          <a:noFill/>
          <a:ln/>
        </p:spPr>
        <p:txBody>
          <a:bodyPr wrap="none" lIns="0" tIns="0" rIns="0" bIns="0" rtlCol="0" anchor="t"/>
          <a:lstStyle/>
          <a:p>
            <a:pPr algn="l" marL="342900" indent="-342900">
              <a:lnSpc>
                <a:spcPts val="2300"/>
              </a:lnSpc>
              <a:buSzPct val="100000"/>
              <a:buChar char="•"/>
            </a:pPr>
            <a:r>
              <a:rPr lang="en-US" sz="1400" b="1" dirty="0">
                <a:solidFill>
                  <a:srgbClr val="272525"/>
                </a:solidFill>
                <a:latin typeface="Montserrat" pitchFamily="34" charset="0"/>
                <a:ea typeface="Montserrat" pitchFamily="34" charset="-122"/>
                <a:cs typeface="Montserrat" pitchFamily="34" charset="-120"/>
              </a:rPr>
              <a:t>Amount:</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Stores the numerical value of the transaction.</a:t>
            </a:r>
            <a:endParaRPr lang="en-US" sz="1400" dirty="0"/>
          </a:p>
        </p:txBody>
      </p:sp>
      <p:sp>
        <p:nvSpPr>
          <p:cNvPr id="13" name="Text 8"/>
          <p:cNvSpPr/>
          <p:nvPr/>
        </p:nvSpPr>
        <p:spPr>
          <a:xfrm>
            <a:off x="936069" y="5603677"/>
            <a:ext cx="6082308" cy="584359"/>
          </a:xfrm>
          <a:prstGeom prst="rect">
            <a:avLst/>
          </a:prstGeom>
          <a:noFill/>
          <a:ln/>
        </p:spPr>
        <p:txBody>
          <a:bodyPr wrap="square" lIns="0" tIns="0" rIns="0" bIns="0" rtlCol="0" anchor="t"/>
          <a:lstStyle/>
          <a:p>
            <a:pPr algn="l" marL="342900" indent="-342900">
              <a:lnSpc>
                <a:spcPts val="2300"/>
              </a:lnSpc>
              <a:buSzPct val="100000"/>
              <a:buChar char="•"/>
            </a:pPr>
            <a:r>
              <a:rPr lang="en-US" sz="1400" b="1" dirty="0">
                <a:solidFill>
                  <a:srgbClr val="272525"/>
                </a:solidFill>
                <a:latin typeface="Montserrat" pitchFamily="34" charset="0"/>
                <a:ea typeface="Montserrat" pitchFamily="34" charset="-122"/>
                <a:cs typeface="Montserrat" pitchFamily="34" charset="-120"/>
              </a:rPr>
              <a:t>isIncome:</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A boolean flag indicating whether the transaction represents income (true) or an expense (false).</a:t>
            </a:r>
            <a:endParaRPr lang="en-US" sz="1400" dirty="0"/>
          </a:p>
        </p:txBody>
      </p:sp>
      <p:sp>
        <p:nvSpPr>
          <p:cNvPr id="14" name="Shape 9"/>
          <p:cNvSpPr/>
          <p:nvPr/>
        </p:nvSpPr>
        <p:spPr>
          <a:xfrm>
            <a:off x="7406521" y="1742837"/>
            <a:ext cx="6493312" cy="5983962"/>
          </a:xfrm>
          <a:prstGeom prst="roundRect">
            <a:avLst>
              <a:gd name="adj" fmla="val 1834"/>
            </a:avLst>
          </a:prstGeom>
          <a:solidFill>
            <a:srgbClr val="EEEFF5"/>
          </a:solidFill>
          <a:ln/>
          <a:effectLst>
            <a:outerShdw sx="100000" sy="100000" kx="0" ky="0" algn="bl" rotWithShape="0" blurRad="44450" dist="21590" dir="13500000">
              <a:srgbClr val="ffffff">
                <a:alpha val="70000"/>
              </a:srgbClr>
            </a:outerShdw>
          </a:effectLst>
        </p:spPr>
      </p:sp>
      <p:pic>
        <p:nvPicPr>
          <p:cNvPr id="15" name="Image 3" descr="preencoded.png">    </p:cNvPr>
          <p:cNvPicPr>
            <a:picLocks noChangeAspect="1"/>
          </p:cNvPicPr>
          <p:nvPr/>
        </p:nvPicPr>
        <p:blipFill>
          <a:blip r:embed="rId4"/>
          <a:stretch>
            <a:fillRect/>
          </a:stretch>
        </p:blipFill>
        <p:spPr>
          <a:xfrm>
            <a:off x="7406521" y="1719977"/>
            <a:ext cx="6493312" cy="91440"/>
          </a:xfrm>
          <a:prstGeom prst="rect">
            <a:avLst/>
          </a:prstGeom>
        </p:spPr>
      </p:pic>
      <p:pic>
        <p:nvPicPr>
          <p:cNvPr id="16" name="Image 4" descr="preencoded.png">    </p:cNvPr>
          <p:cNvPicPr>
            <a:picLocks noChangeAspect="1"/>
          </p:cNvPicPr>
          <p:nvPr/>
        </p:nvPicPr>
        <p:blipFill>
          <a:blip r:embed="rId5"/>
          <a:stretch>
            <a:fillRect/>
          </a:stretch>
        </p:blipFill>
        <p:spPr>
          <a:xfrm>
            <a:off x="10379154" y="1468874"/>
            <a:ext cx="547926" cy="547926"/>
          </a:xfrm>
          <a:prstGeom prst="rect">
            <a:avLst/>
          </a:prstGeom>
        </p:spPr>
      </p:pic>
      <p:pic>
        <p:nvPicPr>
          <p:cNvPr id="17" name="Image 5" descr="preencoded.png">    </p:cNvPr>
          <p:cNvPicPr>
            <a:picLocks noChangeAspect="1"/>
          </p:cNvPicPr>
          <p:nvPr/>
        </p:nvPicPr>
        <p:blipFill>
          <a:blip r:embed="rId6"/>
          <a:stretch>
            <a:fillRect/>
          </a:stretch>
        </p:blipFill>
        <p:spPr>
          <a:xfrm>
            <a:off x="10543580" y="1605796"/>
            <a:ext cx="219075" cy="273963"/>
          </a:xfrm>
          <a:prstGeom prst="rect">
            <a:avLst/>
          </a:prstGeom>
        </p:spPr>
      </p:pic>
      <p:sp>
        <p:nvSpPr>
          <p:cNvPr id="18" name="Text 10"/>
          <p:cNvSpPr/>
          <p:nvPr/>
        </p:nvSpPr>
        <p:spPr>
          <a:xfrm>
            <a:off x="7612023" y="2199442"/>
            <a:ext cx="2403158" cy="300276"/>
          </a:xfrm>
          <a:prstGeom prst="rect">
            <a:avLst/>
          </a:prstGeom>
          <a:noFill/>
          <a:ln/>
        </p:spPr>
        <p:txBody>
          <a:bodyPr wrap="none" lIns="0" tIns="0" rIns="0" bIns="0" rtlCol="0" anchor="t"/>
          <a:lstStyle/>
          <a:p>
            <a:pPr algn="l" indent="0" marL="0">
              <a:lnSpc>
                <a:spcPts val="2350"/>
              </a:lnSpc>
              <a:buNone/>
            </a:pPr>
            <a:r>
              <a:rPr lang="en-US" sz="1850" b="1" dirty="0">
                <a:solidFill>
                  <a:srgbClr val="272525"/>
                </a:solidFill>
                <a:latin typeface="Barlow Bold" pitchFamily="34" charset="0"/>
                <a:ea typeface="Barlow Bold" pitchFamily="34" charset="-122"/>
                <a:cs typeface="Barlow Bold" pitchFamily="34" charset="-120"/>
              </a:rPr>
              <a:t>Tracker Class</a:t>
            </a:r>
            <a:endParaRPr lang="en-US" sz="1850" dirty="0"/>
          </a:p>
        </p:txBody>
      </p:sp>
      <p:sp>
        <p:nvSpPr>
          <p:cNvPr id="19" name="Text 11"/>
          <p:cNvSpPr/>
          <p:nvPr/>
        </p:nvSpPr>
        <p:spPr>
          <a:xfrm>
            <a:off x="7612023" y="2609255"/>
            <a:ext cx="6082308" cy="1168718"/>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The Tracker class acts as the central orchestrator of the application's functionality. It is responsible for managing a collection of </a:t>
            </a:r>
            <a:pPr algn="l" indent="0" marL="0">
              <a:lnSpc>
                <a:spcPts val="2300"/>
              </a:lnSpc>
              <a:buNone/>
            </a:pPr>
            <a:r>
              <a:rPr lang="en-US" sz="1400" b="1" dirty="0">
                <a:solidFill>
                  <a:srgbClr val="272525"/>
                </a:solidFill>
                <a:latin typeface="Montserrat" pitchFamily="34" charset="0"/>
                <a:ea typeface="Montserrat" pitchFamily="34" charset="-122"/>
                <a:cs typeface="Montserrat" pitchFamily="34" charset="-120"/>
              </a:rPr>
              <a:t>Transaction</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objects and handling all interactions with the persistent data storage.</a:t>
            </a:r>
            <a:endParaRPr lang="en-US" sz="1400" dirty="0"/>
          </a:p>
        </p:txBody>
      </p:sp>
      <p:sp>
        <p:nvSpPr>
          <p:cNvPr id="20" name="Text 12"/>
          <p:cNvSpPr/>
          <p:nvPr/>
        </p:nvSpPr>
        <p:spPr>
          <a:xfrm>
            <a:off x="7612023" y="3887510"/>
            <a:ext cx="6082308" cy="876538"/>
          </a:xfrm>
          <a:prstGeom prst="rect">
            <a:avLst/>
          </a:prstGeom>
          <a:noFill/>
          <a:ln/>
        </p:spPr>
        <p:txBody>
          <a:bodyPr wrap="square" lIns="0" tIns="0" rIns="0" bIns="0" rtlCol="0" anchor="t"/>
          <a:lstStyle/>
          <a:p>
            <a:pPr algn="l" marL="342900" indent="-342900">
              <a:lnSpc>
                <a:spcPts val="2300"/>
              </a:lnSpc>
              <a:buSzPct val="100000"/>
              <a:buChar char="•"/>
            </a:pPr>
            <a:r>
              <a:rPr lang="en-US" sz="1400" b="1" dirty="0">
                <a:solidFill>
                  <a:srgbClr val="272525"/>
                </a:solidFill>
                <a:latin typeface="Montserrat" pitchFamily="34" charset="0"/>
                <a:ea typeface="Montserrat" pitchFamily="34" charset="-122"/>
                <a:cs typeface="Montserrat" pitchFamily="34" charset="-120"/>
              </a:rPr>
              <a:t>Transaction Vector:</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Internally maintains a dynamic array (vector) of </a:t>
            </a:r>
            <a:pPr algn="l" indent="0" marL="0">
              <a:lnSpc>
                <a:spcPts val="2300"/>
              </a:lnSpc>
              <a:buNone/>
            </a:pPr>
            <a:r>
              <a:rPr lang="en-US" sz="1400" b="1" dirty="0">
                <a:solidFill>
                  <a:srgbClr val="272525"/>
                </a:solidFill>
                <a:latin typeface="Montserrat" pitchFamily="34" charset="0"/>
                <a:ea typeface="Montserrat" pitchFamily="34" charset="-122"/>
                <a:cs typeface="Montserrat" pitchFamily="34" charset="-120"/>
              </a:rPr>
              <a:t>Transaction</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objects, allowing for efficient addition, deletion, and retrieval of transactions.</a:t>
            </a:r>
            <a:endParaRPr lang="en-US" sz="1400" dirty="0"/>
          </a:p>
        </p:txBody>
      </p:sp>
      <p:sp>
        <p:nvSpPr>
          <p:cNvPr id="21" name="Text 13"/>
          <p:cNvSpPr/>
          <p:nvPr/>
        </p:nvSpPr>
        <p:spPr>
          <a:xfrm>
            <a:off x="7612023" y="4827865"/>
            <a:ext cx="6082308" cy="1460897"/>
          </a:xfrm>
          <a:prstGeom prst="rect">
            <a:avLst/>
          </a:prstGeom>
          <a:noFill/>
          <a:ln/>
        </p:spPr>
        <p:txBody>
          <a:bodyPr wrap="square" lIns="0" tIns="0" rIns="0" bIns="0" rtlCol="0" anchor="t"/>
          <a:lstStyle/>
          <a:p>
            <a:pPr algn="l" marL="342900" indent="-342900">
              <a:lnSpc>
                <a:spcPts val="2300"/>
              </a:lnSpc>
              <a:buSzPct val="100000"/>
              <a:buChar char="•"/>
            </a:pPr>
            <a:r>
              <a:rPr lang="en-US" sz="1400" b="1" dirty="0">
                <a:solidFill>
                  <a:srgbClr val="272525"/>
                </a:solidFill>
                <a:latin typeface="Montserrat" pitchFamily="34" charset="0"/>
                <a:ea typeface="Montserrat" pitchFamily="34" charset="-122"/>
                <a:cs typeface="Montserrat" pitchFamily="34" charset="-120"/>
              </a:rPr>
              <a:t>File I/O Management:</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Handles the reading of transaction data from the </a:t>
            </a:r>
            <a:pPr algn="l" indent="0" marL="0">
              <a:lnSpc>
                <a:spcPts val="2300"/>
              </a:lnSpc>
              <a:buNone/>
            </a:pPr>
            <a:r>
              <a:rPr lang="en-US" sz="1400" b="1" dirty="0">
                <a:solidFill>
                  <a:srgbClr val="272525"/>
                </a:solidFill>
                <a:latin typeface="Montserrat" pitchFamily="34" charset="0"/>
                <a:ea typeface="Montserrat" pitchFamily="34" charset="-122"/>
                <a:cs typeface="Montserrat" pitchFamily="34" charset="-120"/>
              </a:rPr>
              <a:t>data.txt</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file upon application startup and the writing of updated transaction data back to the file upon exit. This ensures that all changes are saved and available for future sessions.</a:t>
            </a:r>
            <a:endParaRPr lang="en-US" sz="1400" dirty="0"/>
          </a:p>
        </p:txBody>
      </p:sp>
      <p:sp>
        <p:nvSpPr>
          <p:cNvPr id="22" name="Text 14"/>
          <p:cNvSpPr/>
          <p:nvPr/>
        </p:nvSpPr>
        <p:spPr>
          <a:xfrm>
            <a:off x="7612023" y="6352580"/>
            <a:ext cx="6082308" cy="1168718"/>
          </a:xfrm>
          <a:prstGeom prst="rect">
            <a:avLst/>
          </a:prstGeom>
          <a:noFill/>
          <a:ln/>
        </p:spPr>
        <p:txBody>
          <a:bodyPr wrap="square" lIns="0" tIns="0" rIns="0" bIns="0" rtlCol="0" anchor="t"/>
          <a:lstStyle/>
          <a:p>
            <a:pPr algn="l" marL="342900" indent="-342900">
              <a:lnSpc>
                <a:spcPts val="2300"/>
              </a:lnSpc>
              <a:buSzPct val="100000"/>
              <a:buChar char="•"/>
            </a:pPr>
            <a:r>
              <a:rPr lang="en-US" sz="1400" b="1" dirty="0">
                <a:solidFill>
                  <a:srgbClr val="272525"/>
                </a:solidFill>
                <a:latin typeface="Montserrat" pitchFamily="34" charset="0"/>
                <a:ea typeface="Montserrat" pitchFamily="34" charset="-122"/>
                <a:cs typeface="Montserrat" pitchFamily="34" charset="-120"/>
              </a:rPr>
              <a:t>Core Operations:</a:t>
            </a:r>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 Implements methods for adding new transactions, filtering transactions by category, and generating summary reports, leveraging the data stored within the transaction vector.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05922" y="909399"/>
            <a:ext cx="7694176" cy="580549"/>
          </a:xfrm>
          <a:prstGeom prst="rect">
            <a:avLst/>
          </a:prstGeom>
          <a:noFill/>
          <a:ln/>
        </p:spPr>
        <p:txBody>
          <a:bodyPr wrap="none" lIns="0" tIns="0" rIns="0" bIns="0" rtlCol="0" anchor="t"/>
          <a:lstStyle/>
          <a:p>
            <a:pPr algn="l" indent="0" marL="0">
              <a:lnSpc>
                <a:spcPts val="4550"/>
              </a:lnSpc>
              <a:buNone/>
            </a:pPr>
            <a:r>
              <a:rPr lang="en-US" sz="3650" b="1" dirty="0">
                <a:solidFill>
                  <a:srgbClr val="7068F4"/>
                </a:solidFill>
                <a:latin typeface="Barlow Bold" pitchFamily="34" charset="0"/>
                <a:ea typeface="Barlow Bold" pitchFamily="34" charset="-122"/>
                <a:cs typeface="Barlow Bold" pitchFamily="34" charset="-120"/>
              </a:rPr>
              <a:t>Adding a Transaction (Code Example)</a:t>
            </a:r>
            <a:endParaRPr lang="en-US" sz="3650" dirty="0"/>
          </a:p>
        </p:txBody>
      </p:sp>
      <p:sp>
        <p:nvSpPr>
          <p:cNvPr id="3" name="Text 1"/>
          <p:cNvSpPr/>
          <p:nvPr/>
        </p:nvSpPr>
        <p:spPr>
          <a:xfrm>
            <a:off x="705922" y="1931075"/>
            <a:ext cx="2322433" cy="290274"/>
          </a:xfrm>
          <a:prstGeom prst="rect">
            <a:avLst/>
          </a:prstGeom>
          <a:noFill/>
          <a:ln/>
        </p:spPr>
        <p:txBody>
          <a:bodyPr wrap="none" lIns="0" tIns="0" rIns="0" bIns="0" rtlCol="0" anchor="t"/>
          <a:lstStyle/>
          <a:p>
            <a:pPr algn="l" indent="0" marL="0">
              <a:lnSpc>
                <a:spcPts val="2250"/>
              </a:lnSpc>
              <a:buNone/>
            </a:pPr>
            <a:r>
              <a:rPr lang="en-US" sz="1800" b="1" dirty="0">
                <a:solidFill>
                  <a:srgbClr val="7068F4"/>
                </a:solidFill>
                <a:latin typeface="Barlow Bold" pitchFamily="34" charset="0"/>
                <a:ea typeface="Barlow Bold" pitchFamily="34" charset="-122"/>
                <a:cs typeface="Barlow Bold" pitchFamily="34" charset="-120"/>
              </a:rPr>
              <a:t>How it Works</a:t>
            </a:r>
            <a:endParaRPr lang="en-US" sz="1800" dirty="0"/>
          </a:p>
        </p:txBody>
      </p:sp>
      <p:sp>
        <p:nvSpPr>
          <p:cNvPr id="4" name="Text 2"/>
          <p:cNvSpPr/>
          <p:nvPr/>
        </p:nvSpPr>
        <p:spPr>
          <a:xfrm>
            <a:off x="705922" y="2397800"/>
            <a:ext cx="6394013" cy="846892"/>
          </a:xfrm>
          <a:prstGeom prst="rect">
            <a:avLst/>
          </a:prstGeom>
          <a:noFill/>
          <a:ln/>
        </p:spPr>
        <p:txBody>
          <a:bodyPr wrap="square" lIns="0" tIns="0" rIns="0" bIns="0" rtlCol="0" anchor="t"/>
          <a:lstStyle/>
          <a:p>
            <a:pPr algn="l" indent="0" marL="0">
              <a:lnSpc>
                <a:spcPts val="2200"/>
              </a:lnSpc>
              <a:buNone/>
            </a:pPr>
            <a:r>
              <a:rPr lang="en-US" sz="1350" dirty="0">
                <a:solidFill>
                  <a:srgbClr val="272525"/>
                </a:solidFill>
                <a:latin typeface="Montserrat" pitchFamily="34" charset="0"/>
                <a:ea typeface="Montserrat" pitchFamily="34" charset="-122"/>
                <a:cs typeface="Montserrat" pitchFamily="34" charset="-120"/>
              </a:rPr>
              <a:t>The process of adding a new transaction is designed to be user-friendly and straightforward. When a user opts to add a transaction, the application prompts them to input several key details.</a:t>
            </a:r>
            <a:endParaRPr lang="en-US" sz="1350" dirty="0"/>
          </a:p>
        </p:txBody>
      </p:sp>
      <p:sp>
        <p:nvSpPr>
          <p:cNvPr id="5" name="Text 3"/>
          <p:cNvSpPr/>
          <p:nvPr/>
        </p:nvSpPr>
        <p:spPr>
          <a:xfrm>
            <a:off x="705922" y="3403521"/>
            <a:ext cx="6394013" cy="846892"/>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72525"/>
                </a:solidFill>
                <a:latin typeface="Montserrat" pitchFamily="34" charset="0"/>
                <a:ea typeface="Montserrat" pitchFamily="34" charset="-122"/>
                <a:cs typeface="Montserrat" pitchFamily="34" charset="-120"/>
              </a:rPr>
              <a:t>User Input:</a:t>
            </a:r>
            <a:pPr algn="l" indent="0" marL="0">
              <a:lnSpc>
                <a:spcPts val="2200"/>
              </a:lnSpc>
              <a:buNone/>
            </a:pPr>
            <a:r>
              <a:rPr lang="en-US" sz="1350" dirty="0">
                <a:solidFill>
                  <a:srgbClr val="272525"/>
                </a:solidFill>
                <a:latin typeface="Montserrat" pitchFamily="34" charset="0"/>
                <a:ea typeface="Montserrat" pitchFamily="34" charset="-122"/>
                <a:cs typeface="Montserrat" pitchFamily="34" charset="-120"/>
              </a:rPr>
              <a:t> The user is guided to enter the date, a brief description, the category, the amount, and to specify whether the transaction is an income or an expense.</a:t>
            </a:r>
            <a:endParaRPr lang="en-US" sz="1350" dirty="0"/>
          </a:p>
        </p:txBody>
      </p:sp>
      <p:sp>
        <p:nvSpPr>
          <p:cNvPr id="6" name="Text 4"/>
          <p:cNvSpPr/>
          <p:nvPr/>
        </p:nvSpPr>
        <p:spPr>
          <a:xfrm>
            <a:off x="705922" y="4312087"/>
            <a:ext cx="6394013" cy="846892"/>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72525"/>
                </a:solidFill>
                <a:latin typeface="Montserrat" pitchFamily="34" charset="0"/>
                <a:ea typeface="Montserrat" pitchFamily="34" charset="-122"/>
                <a:cs typeface="Montserrat" pitchFamily="34" charset="-120"/>
              </a:rPr>
              <a:t>Data Validation:</a:t>
            </a:r>
            <a:pPr algn="l" indent="0" marL="0">
              <a:lnSpc>
                <a:spcPts val="2200"/>
              </a:lnSpc>
              <a:buNone/>
            </a:pPr>
            <a:r>
              <a:rPr lang="en-US" sz="1350" dirty="0">
                <a:solidFill>
                  <a:srgbClr val="272525"/>
                </a:solidFill>
                <a:latin typeface="Montserrat" pitchFamily="34" charset="0"/>
                <a:ea typeface="Montserrat" pitchFamily="34" charset="-122"/>
                <a:cs typeface="Montserrat" pitchFamily="34" charset="-120"/>
              </a:rPr>
              <a:t> (Future Improvement) While not fully implemented in the current version, future iterations will include robust input validation to ensure data integrity and prevent errors.</a:t>
            </a:r>
            <a:endParaRPr lang="en-US" sz="1350" dirty="0"/>
          </a:p>
        </p:txBody>
      </p:sp>
      <p:sp>
        <p:nvSpPr>
          <p:cNvPr id="7" name="Text 5"/>
          <p:cNvSpPr/>
          <p:nvPr/>
        </p:nvSpPr>
        <p:spPr>
          <a:xfrm>
            <a:off x="705922" y="5220653"/>
            <a:ext cx="6394013" cy="112918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72525"/>
                </a:solidFill>
                <a:latin typeface="Montserrat" pitchFamily="34" charset="0"/>
                <a:ea typeface="Montserrat" pitchFamily="34" charset="-122"/>
                <a:cs typeface="Montserrat" pitchFamily="34" charset="-120"/>
              </a:rPr>
              <a:t>Vector Integration:</a:t>
            </a:r>
            <a:pPr algn="l" indent="0" marL="0">
              <a:lnSpc>
                <a:spcPts val="2200"/>
              </a:lnSpc>
              <a:buNone/>
            </a:pPr>
            <a:r>
              <a:rPr lang="en-US" sz="1350" dirty="0">
                <a:solidFill>
                  <a:srgbClr val="272525"/>
                </a:solidFill>
                <a:latin typeface="Montserrat" pitchFamily="34" charset="0"/>
                <a:ea typeface="Montserrat" pitchFamily="34" charset="-122"/>
                <a:cs typeface="Montserrat" pitchFamily="34" charset="-120"/>
              </a:rPr>
              <a:t> Once all details are provided, a new </a:t>
            </a:r>
            <a:pPr algn="l" indent="0" marL="0">
              <a:lnSpc>
                <a:spcPts val="2200"/>
              </a:lnSpc>
              <a:buNone/>
            </a:pPr>
            <a:r>
              <a:rPr lang="en-US" sz="1350" b="1" dirty="0">
                <a:solidFill>
                  <a:srgbClr val="272525"/>
                </a:solidFill>
                <a:latin typeface="Montserrat" pitchFamily="34" charset="0"/>
                <a:ea typeface="Montserrat" pitchFamily="34" charset="-122"/>
                <a:cs typeface="Montserrat" pitchFamily="34" charset="-120"/>
              </a:rPr>
              <a:t>Transaction</a:t>
            </a:r>
            <a:pPr algn="l" indent="0" marL="0">
              <a:lnSpc>
                <a:spcPts val="2200"/>
              </a:lnSpc>
              <a:buNone/>
            </a:pPr>
            <a:r>
              <a:rPr lang="en-US" sz="1350" dirty="0">
                <a:solidFill>
                  <a:srgbClr val="272525"/>
                </a:solidFill>
                <a:latin typeface="Montserrat" pitchFamily="34" charset="0"/>
                <a:ea typeface="Montserrat" pitchFamily="34" charset="-122"/>
                <a:cs typeface="Montserrat" pitchFamily="34" charset="-120"/>
              </a:rPr>
              <a:t> object is created using the input data. This newly created object is then appended to the internal vector of </a:t>
            </a:r>
            <a:pPr algn="l" indent="0" marL="0">
              <a:lnSpc>
                <a:spcPts val="2200"/>
              </a:lnSpc>
              <a:buNone/>
            </a:pPr>
            <a:r>
              <a:rPr lang="en-US" sz="1350" b="1" dirty="0">
                <a:solidFill>
                  <a:srgbClr val="272525"/>
                </a:solidFill>
                <a:latin typeface="Montserrat" pitchFamily="34" charset="0"/>
                <a:ea typeface="Montserrat" pitchFamily="34" charset="-122"/>
                <a:cs typeface="Montserrat" pitchFamily="34" charset="-120"/>
              </a:rPr>
              <a:t>Transaction</a:t>
            </a:r>
            <a:pPr algn="l" indent="0" marL="0">
              <a:lnSpc>
                <a:spcPts val="2200"/>
              </a:lnSpc>
              <a:buNone/>
            </a:pPr>
            <a:r>
              <a:rPr lang="en-US" sz="1350" dirty="0">
                <a:solidFill>
                  <a:srgbClr val="272525"/>
                </a:solidFill>
                <a:latin typeface="Montserrat" pitchFamily="34" charset="0"/>
                <a:ea typeface="Montserrat" pitchFamily="34" charset="-122"/>
                <a:cs typeface="Montserrat" pitchFamily="34" charset="-120"/>
              </a:rPr>
              <a:t> objects managed by the </a:t>
            </a:r>
            <a:pPr algn="l" indent="0" marL="0">
              <a:lnSpc>
                <a:spcPts val="2200"/>
              </a:lnSpc>
              <a:buNone/>
            </a:pPr>
            <a:r>
              <a:rPr lang="en-US" sz="1350" b="1" dirty="0">
                <a:solidFill>
                  <a:srgbClr val="272525"/>
                </a:solidFill>
                <a:latin typeface="Montserrat" pitchFamily="34" charset="0"/>
                <a:ea typeface="Montserrat" pitchFamily="34" charset="-122"/>
                <a:cs typeface="Montserrat" pitchFamily="34" charset="-120"/>
              </a:rPr>
              <a:t>Tracker</a:t>
            </a:r>
            <a:pPr algn="l" indent="0" marL="0">
              <a:lnSpc>
                <a:spcPts val="2200"/>
              </a:lnSpc>
              <a:buNone/>
            </a:pPr>
            <a:r>
              <a:rPr lang="en-US" sz="1350" dirty="0">
                <a:solidFill>
                  <a:srgbClr val="272525"/>
                </a:solidFill>
                <a:latin typeface="Montserrat" pitchFamily="34" charset="0"/>
                <a:ea typeface="Montserrat" pitchFamily="34" charset="-122"/>
                <a:cs typeface="Montserrat" pitchFamily="34" charset="-120"/>
              </a:rPr>
              <a:t> class.</a:t>
            </a:r>
            <a:endParaRPr lang="en-US" sz="1350" dirty="0"/>
          </a:p>
        </p:txBody>
      </p:sp>
      <p:sp>
        <p:nvSpPr>
          <p:cNvPr id="8" name="Text 6"/>
          <p:cNvSpPr/>
          <p:nvPr/>
        </p:nvSpPr>
        <p:spPr>
          <a:xfrm>
            <a:off x="705922" y="6411516"/>
            <a:ext cx="6394013" cy="846892"/>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72525"/>
                </a:solidFill>
                <a:latin typeface="Montserrat" pitchFamily="34" charset="0"/>
                <a:ea typeface="Montserrat" pitchFamily="34" charset="-122"/>
                <a:cs typeface="Montserrat" pitchFamily="34" charset="-120"/>
              </a:rPr>
              <a:t>Persistence:</a:t>
            </a:r>
            <a:pPr algn="l" indent="0" marL="0">
              <a:lnSpc>
                <a:spcPts val="2200"/>
              </a:lnSpc>
              <a:buNone/>
            </a:pPr>
            <a:r>
              <a:rPr lang="en-US" sz="1350" dirty="0">
                <a:solidFill>
                  <a:srgbClr val="272525"/>
                </a:solidFill>
                <a:latin typeface="Montserrat" pitchFamily="34" charset="0"/>
                <a:ea typeface="Montserrat" pitchFamily="34" charset="-122"/>
                <a:cs typeface="Montserrat" pitchFamily="34" charset="-120"/>
              </a:rPr>
              <a:t> The updated vector, now containing the new transaction, will be saved to the </a:t>
            </a:r>
            <a:pPr algn="l" indent="0" marL="0">
              <a:lnSpc>
                <a:spcPts val="2200"/>
              </a:lnSpc>
              <a:buNone/>
            </a:pPr>
            <a:r>
              <a:rPr lang="en-US" sz="1350" b="1" dirty="0">
                <a:solidFill>
                  <a:srgbClr val="272525"/>
                </a:solidFill>
                <a:latin typeface="Montserrat" pitchFamily="34" charset="0"/>
                <a:ea typeface="Montserrat" pitchFamily="34" charset="-122"/>
                <a:cs typeface="Montserrat" pitchFamily="34" charset="-120"/>
              </a:rPr>
              <a:t>data.txt</a:t>
            </a:r>
            <a:pPr algn="l" indent="0" marL="0">
              <a:lnSpc>
                <a:spcPts val="2200"/>
              </a:lnSpc>
              <a:buNone/>
            </a:pPr>
            <a:r>
              <a:rPr lang="en-US" sz="1350" dirty="0">
                <a:solidFill>
                  <a:srgbClr val="272525"/>
                </a:solidFill>
                <a:latin typeface="Montserrat" pitchFamily="34" charset="0"/>
                <a:ea typeface="Montserrat" pitchFamily="34" charset="-122"/>
                <a:cs typeface="Montserrat" pitchFamily="34" charset="-120"/>
              </a:rPr>
              <a:t> file when the application is closed, ensuring the transaction is permanently recorded.</a:t>
            </a:r>
            <a:endParaRPr lang="en-US" sz="1350" dirty="0"/>
          </a:p>
        </p:txBody>
      </p:sp>
      <p:pic>
        <p:nvPicPr>
          <p:cNvPr id="9" name="Image 0" descr="preencoded.png">    </p:cNvPr>
          <p:cNvPicPr>
            <a:picLocks noChangeAspect="1"/>
          </p:cNvPicPr>
          <p:nvPr/>
        </p:nvPicPr>
        <p:blipFill>
          <a:blip r:embed="rId1"/>
          <a:stretch>
            <a:fillRect/>
          </a:stretch>
        </p:blipFill>
        <p:spPr>
          <a:xfrm>
            <a:off x="7538085" y="1953101"/>
            <a:ext cx="6394013" cy="18077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41045" y="509468"/>
            <a:ext cx="7163276" cy="609362"/>
          </a:xfrm>
          <a:prstGeom prst="rect">
            <a:avLst/>
          </a:prstGeom>
          <a:noFill/>
          <a:ln/>
        </p:spPr>
        <p:txBody>
          <a:bodyPr wrap="none" lIns="0" tIns="0" rIns="0" bIns="0" rtlCol="0" anchor="t"/>
          <a:lstStyle/>
          <a:p>
            <a:pPr algn="l" indent="0" marL="0">
              <a:lnSpc>
                <a:spcPts val="4750"/>
              </a:lnSpc>
              <a:buNone/>
            </a:pPr>
            <a:r>
              <a:rPr lang="en-US" sz="3800" b="1" dirty="0">
                <a:solidFill>
                  <a:srgbClr val="7068F4"/>
                </a:solidFill>
                <a:latin typeface="Barlow Bold" pitchFamily="34" charset="0"/>
                <a:ea typeface="Barlow Bold" pitchFamily="34" charset="-122"/>
                <a:cs typeface="Barlow Bold" pitchFamily="34" charset="-120"/>
              </a:rPr>
              <a:t>Summary Report (Code Example)</a:t>
            </a:r>
            <a:endParaRPr lang="en-US" sz="3800" dirty="0"/>
          </a:p>
        </p:txBody>
      </p:sp>
      <p:sp>
        <p:nvSpPr>
          <p:cNvPr id="3" name="Text 1"/>
          <p:cNvSpPr/>
          <p:nvPr/>
        </p:nvSpPr>
        <p:spPr>
          <a:xfrm>
            <a:off x="741045" y="1581983"/>
            <a:ext cx="2437924" cy="304800"/>
          </a:xfrm>
          <a:prstGeom prst="rect">
            <a:avLst/>
          </a:prstGeom>
          <a:noFill/>
          <a:ln/>
        </p:spPr>
        <p:txBody>
          <a:bodyPr wrap="none" lIns="0" tIns="0" rIns="0" bIns="0" rtlCol="0" anchor="t"/>
          <a:lstStyle/>
          <a:p>
            <a:pPr algn="l" indent="0" marL="0">
              <a:lnSpc>
                <a:spcPts val="2350"/>
              </a:lnSpc>
              <a:buNone/>
            </a:pPr>
            <a:r>
              <a:rPr lang="en-US" sz="1900" b="1" dirty="0">
                <a:solidFill>
                  <a:srgbClr val="7068F4"/>
                </a:solidFill>
                <a:latin typeface="Barlow Bold" pitchFamily="34" charset="0"/>
                <a:ea typeface="Barlow Bold" pitchFamily="34" charset="-122"/>
                <a:cs typeface="Barlow Bold" pitchFamily="34" charset="-120"/>
              </a:rPr>
              <a:t>How it Works</a:t>
            </a:r>
            <a:endParaRPr lang="en-US" sz="1900" dirty="0"/>
          </a:p>
        </p:txBody>
      </p:sp>
      <p:sp>
        <p:nvSpPr>
          <p:cNvPr id="4" name="Text 2"/>
          <p:cNvSpPr/>
          <p:nvPr/>
        </p:nvSpPr>
        <p:spPr>
          <a:xfrm>
            <a:off x="741045" y="2072045"/>
            <a:ext cx="6348174" cy="1185386"/>
          </a:xfrm>
          <a:prstGeom prst="rect">
            <a:avLst/>
          </a:prstGeom>
          <a:noFill/>
          <a:ln/>
        </p:spPr>
        <p:txBody>
          <a:bodyPr wrap="square" lIns="0" tIns="0" rIns="0" bIns="0" rtlCol="0" anchor="t"/>
          <a:lstStyle/>
          <a:p>
            <a:pPr algn="l"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The summary report feature provides users with a quick and comprehensive overview of their financial status. This functionality is crucial for understanding overall income, expenses, and the resulting balance.</a:t>
            </a:r>
            <a:endParaRPr lang="en-US" sz="1450" dirty="0"/>
          </a:p>
        </p:txBody>
      </p:sp>
      <p:sp>
        <p:nvSpPr>
          <p:cNvPr id="5" name="Text 3"/>
          <p:cNvSpPr/>
          <p:nvPr/>
        </p:nvSpPr>
        <p:spPr>
          <a:xfrm>
            <a:off x="741045" y="3424118"/>
            <a:ext cx="6348174" cy="1481733"/>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272525"/>
                </a:solidFill>
                <a:latin typeface="Montserrat" pitchFamily="34" charset="0"/>
                <a:ea typeface="Montserrat" pitchFamily="34" charset="-122"/>
                <a:cs typeface="Montserrat" pitchFamily="34" charset="-120"/>
              </a:rPr>
              <a:t>Calculation Logic:</a:t>
            </a:r>
            <a:pPr algn="l"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 The application iterates through all stored </a:t>
            </a:r>
            <a:pPr algn="l" indent="0" marL="0">
              <a:lnSpc>
                <a:spcPts val="2300"/>
              </a:lnSpc>
              <a:buNone/>
            </a:pPr>
            <a:r>
              <a:rPr lang="en-US" sz="1450" b="1" dirty="0">
                <a:solidFill>
                  <a:srgbClr val="272525"/>
                </a:solidFill>
                <a:latin typeface="Montserrat" pitchFamily="34" charset="0"/>
                <a:ea typeface="Montserrat" pitchFamily="34" charset="-122"/>
                <a:cs typeface="Montserrat" pitchFamily="34" charset="-120"/>
              </a:rPr>
              <a:t>Transaction</a:t>
            </a:r>
            <a:pPr algn="l"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 objects within the internal vector. For each transaction, it checks the </a:t>
            </a:r>
            <a:pPr algn="l" indent="0" marL="0">
              <a:lnSpc>
                <a:spcPts val="2300"/>
              </a:lnSpc>
              <a:buNone/>
            </a:pPr>
            <a:r>
              <a:rPr lang="en-US" sz="1450" b="1" dirty="0">
                <a:solidFill>
                  <a:srgbClr val="272525"/>
                </a:solidFill>
                <a:latin typeface="Montserrat" pitchFamily="34" charset="0"/>
                <a:ea typeface="Montserrat" pitchFamily="34" charset="-122"/>
                <a:cs typeface="Montserrat" pitchFamily="34" charset="-120"/>
              </a:rPr>
              <a:t>isIncome</a:t>
            </a:r>
            <a:pPr algn="l"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 flag. If true, the amount is added to the total income; otherwise, it's added to the total expenses.</a:t>
            </a:r>
            <a:endParaRPr lang="en-US" sz="1450" dirty="0"/>
          </a:p>
        </p:txBody>
      </p:sp>
      <p:sp>
        <p:nvSpPr>
          <p:cNvPr id="6" name="Text 4"/>
          <p:cNvSpPr/>
          <p:nvPr/>
        </p:nvSpPr>
        <p:spPr>
          <a:xfrm>
            <a:off x="741045" y="4970621"/>
            <a:ext cx="6348174" cy="592693"/>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272525"/>
                </a:solidFill>
                <a:latin typeface="Montserrat" pitchFamily="34" charset="0"/>
                <a:ea typeface="Montserrat" pitchFamily="34" charset="-122"/>
                <a:cs typeface="Montserrat" pitchFamily="34" charset="-120"/>
              </a:rPr>
              <a:t>Balance Calculation:</a:t>
            </a:r>
            <a:pPr algn="l"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 The net balance is then computed by subtracting the total expenses from the total income.</a:t>
            </a:r>
            <a:endParaRPr lang="en-US" sz="1450" dirty="0"/>
          </a:p>
        </p:txBody>
      </p:sp>
      <p:sp>
        <p:nvSpPr>
          <p:cNvPr id="7" name="Text 5"/>
          <p:cNvSpPr/>
          <p:nvPr/>
        </p:nvSpPr>
        <p:spPr>
          <a:xfrm>
            <a:off x="741045" y="5628084"/>
            <a:ext cx="6348174" cy="889040"/>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272525"/>
                </a:solidFill>
                <a:latin typeface="Montserrat" pitchFamily="34" charset="0"/>
                <a:ea typeface="Montserrat" pitchFamily="34" charset="-122"/>
                <a:cs typeface="Montserrat" pitchFamily="34" charset="-120"/>
              </a:rPr>
              <a:t>Display:</a:t>
            </a:r>
            <a:pPr algn="l" indent="0" marL="0">
              <a:lnSpc>
                <a:spcPts val="2300"/>
              </a:lnSpc>
              <a:buNone/>
            </a:pPr>
            <a:r>
              <a:rPr lang="en-US" sz="1450" dirty="0">
                <a:solidFill>
                  <a:srgbClr val="272525"/>
                </a:solidFill>
                <a:latin typeface="Montserrat" pitchFamily="34" charset="0"/>
                <a:ea typeface="Montserrat" pitchFamily="34" charset="-122"/>
                <a:cs typeface="Montserrat" pitchFamily="34" charset="-120"/>
              </a:rPr>
              <a:t> Finally, the calculated total income, total expenses, and the net balance are clearly displayed to the user in a formatted output, providing an immediate financial snapshot.</a:t>
            </a:r>
            <a:endParaRPr lang="en-US" sz="1450" dirty="0"/>
          </a:p>
        </p:txBody>
      </p:sp>
      <p:sp>
        <p:nvSpPr>
          <p:cNvPr id="8" name="Shape 6"/>
          <p:cNvSpPr/>
          <p:nvPr/>
        </p:nvSpPr>
        <p:spPr>
          <a:xfrm>
            <a:off x="7548801" y="1605082"/>
            <a:ext cx="6348174" cy="5908477"/>
          </a:xfrm>
          <a:prstGeom prst="roundRect">
            <a:avLst>
              <a:gd name="adj" fmla="val 2822"/>
            </a:avLst>
          </a:prstGeom>
          <a:solidFill>
            <a:srgbClr val="E1E2E8"/>
          </a:solidFill>
          <a:ln/>
        </p:spPr>
      </p:sp>
      <p:sp>
        <p:nvSpPr>
          <p:cNvPr id="9" name="Shape 7"/>
          <p:cNvSpPr/>
          <p:nvPr/>
        </p:nvSpPr>
        <p:spPr>
          <a:xfrm>
            <a:off x="7539633" y="1605082"/>
            <a:ext cx="6366510" cy="5908477"/>
          </a:xfrm>
          <a:prstGeom prst="roundRect">
            <a:avLst>
              <a:gd name="adj" fmla="val 470"/>
            </a:avLst>
          </a:prstGeom>
          <a:solidFill>
            <a:srgbClr val="E1E2E8"/>
          </a:solidFill>
          <a:ln/>
        </p:spPr>
      </p:sp>
      <p:sp>
        <p:nvSpPr>
          <p:cNvPr id="10" name="Text 8"/>
          <p:cNvSpPr/>
          <p:nvPr/>
        </p:nvSpPr>
        <p:spPr>
          <a:xfrm>
            <a:off x="7724894" y="1744028"/>
            <a:ext cx="5995987" cy="5630585"/>
          </a:xfrm>
          <a:prstGeom prst="rect">
            <a:avLst/>
          </a:prstGeom>
          <a:noFill/>
          <a:ln/>
        </p:spPr>
        <p:txBody>
          <a:bodyPr wrap="square" lIns="0" tIns="0" rIns="0" bIns="0" rtlCol="0" anchor="t"/>
          <a:lstStyle/>
          <a:p>
            <a:pPr algn="l" indent="0" marL="0">
              <a:lnSpc>
                <a:spcPts val="2300"/>
              </a:lnSpc>
              <a:buNone/>
            </a:pPr>
            <a:r>
              <a:rPr lang="en-US" sz="1450" dirty="0">
                <a:solidFill>
                  <a:srgbClr val="272525"/>
                </a:solidFill>
                <a:highlight>
                  <a:srgbClr val="E1E2E8"/>
                </a:highlight>
                <a:latin typeface="Consolas" pitchFamily="34" charset="0"/>
                <a:ea typeface="Consolas" pitchFamily="34" charset="-122"/>
                <a:cs typeface="Consolas" pitchFamily="34" charset="-120"/>
              </a:rPr>
              <a:t>void Tracker::summaryReport() { double income = 0, expenses = 0; for (const auto&amp; transaction : transactions) { if (transaction.isIncome) { income += transaction.amount; } else { expenses += transaction.amount; } } std::cout &lt;&lt; "\n--- Summary Report ---\n"; std::cout &lt;&lt; "Total Income: $" &lt;&lt; income &lt;&lt; std::fixed &lt;&lt; std::setprecision(2) &lt;&lt; "\n"; std::cout &lt;&lt; "Total Expenses: $" &lt;&lt; expenses &lt;&lt; std::fixed &lt;&lt; std::setprecision(2) &lt;&lt; "\n"; std::cout &lt;&lt; "Balance: $" &lt;&lt; (income - expenses) &lt;&lt; std::fixed &lt;&lt; std::setprecision(2) &lt;&lt; "\n"; std::cout &lt;&lt; "----------------------\n";}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563100" y="937260"/>
            <a:ext cx="4648200" cy="6355080"/>
          </a:xfrm>
          <a:prstGeom prst="rect">
            <a:avLst/>
          </a:prstGeom>
        </p:spPr>
      </p:pic>
      <p:sp>
        <p:nvSpPr>
          <p:cNvPr id="4" name="Text 0"/>
          <p:cNvSpPr/>
          <p:nvPr/>
        </p:nvSpPr>
        <p:spPr>
          <a:xfrm>
            <a:off x="758309" y="3509248"/>
            <a:ext cx="4988838" cy="623530"/>
          </a:xfrm>
          <a:prstGeom prst="rect">
            <a:avLst/>
          </a:prstGeom>
          <a:noFill/>
          <a:ln/>
        </p:spPr>
        <p:txBody>
          <a:bodyPr wrap="none" lIns="0" tIns="0" rIns="0" bIns="0" rtlCol="0" anchor="t"/>
          <a:lstStyle/>
          <a:p>
            <a:pPr algn="l" indent="0" marL="0">
              <a:lnSpc>
                <a:spcPts val="4900"/>
              </a:lnSpc>
              <a:buNone/>
            </a:pPr>
            <a:r>
              <a:rPr lang="en-US" sz="3900" b="1" dirty="0">
                <a:solidFill>
                  <a:srgbClr val="7068F4"/>
                </a:solidFill>
                <a:latin typeface="Barlow Bold" pitchFamily="34" charset="0"/>
                <a:ea typeface="Barlow Bold" pitchFamily="34" charset="-122"/>
                <a:cs typeface="Barlow Bold" pitchFamily="34" charset="-120"/>
              </a:rPr>
              <a:t>Demo Screenshot:</a:t>
            </a:r>
            <a:endParaRPr lang="en-US" sz="3900" dirty="0"/>
          </a:p>
        </p:txBody>
      </p:sp>
      <p:sp>
        <p:nvSpPr>
          <p:cNvPr id="5" name="Text 1"/>
          <p:cNvSpPr/>
          <p:nvPr/>
        </p:nvSpPr>
        <p:spPr>
          <a:xfrm>
            <a:off x="758309" y="4417100"/>
            <a:ext cx="7627382" cy="303252"/>
          </a:xfrm>
          <a:prstGeom prst="rect">
            <a:avLst/>
          </a:prstGeom>
          <a:noFill/>
          <a:ln/>
        </p:spPr>
        <p:txBody>
          <a:bodyPr wrap="none" lIns="0" tIns="0" rIns="0" bIns="0" rtlCol="0" anchor="t"/>
          <a:lstStyle/>
          <a:p>
            <a:pPr algn="l" indent="0" marL="0">
              <a:lnSpc>
                <a:spcPts val="2350"/>
              </a:lnSpc>
              <a:buNone/>
            </a:pP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2407325"/>
            <a:ext cx="4988838" cy="623530"/>
          </a:xfrm>
          <a:prstGeom prst="rect">
            <a:avLst/>
          </a:prstGeom>
          <a:noFill/>
          <a:ln/>
        </p:spPr>
        <p:txBody>
          <a:bodyPr wrap="none" lIns="0" tIns="0" rIns="0" bIns="0" rtlCol="0" anchor="t"/>
          <a:lstStyle/>
          <a:p>
            <a:pPr algn="l" indent="0" marL="0">
              <a:lnSpc>
                <a:spcPts val="4900"/>
              </a:lnSpc>
              <a:buNone/>
            </a:pPr>
            <a:r>
              <a:rPr lang="en-US" sz="3900" b="1" dirty="0">
                <a:solidFill>
                  <a:srgbClr val="7068F4"/>
                </a:solidFill>
                <a:latin typeface="Barlow Bold" pitchFamily="34" charset="0"/>
                <a:ea typeface="Barlow Bold" pitchFamily="34" charset="-122"/>
                <a:cs typeface="Barlow Bold" pitchFamily="34" charset="-120"/>
              </a:rPr>
              <a:t>DEMO:</a:t>
            </a:r>
            <a:endParaRPr lang="en-US" sz="3900" dirty="0"/>
          </a:p>
        </p:txBody>
      </p:sp>
      <p:pic>
        <p:nvPicPr>
          <p:cNvPr id="3" name="Image 0" descr="preencoded.png">
            <a:hlinkClick r:id="rId2" tooltip=""/>
          </p:cNvPr>
          <p:cNvPicPr>
            <a:picLocks noChangeAspect="1"/>
          </p:cNvPicPr>
          <p:nvPr/>
        </p:nvPicPr>
        <p:blipFill>
          <a:blip r:embed="rId1"/>
          <a:stretch>
            <a:fillRect/>
          </a:stretch>
        </p:blipFill>
        <p:spPr>
          <a:xfrm>
            <a:off x="758309" y="3409950"/>
            <a:ext cx="13113782" cy="1895713"/>
          </a:xfrm>
          <a:prstGeom prst="rect">
            <a:avLst/>
          </a:prstGeom>
        </p:spPr>
      </p:pic>
      <p:sp>
        <p:nvSpPr>
          <p:cNvPr id="4" name="Text 1"/>
          <p:cNvSpPr/>
          <p:nvPr/>
        </p:nvSpPr>
        <p:spPr>
          <a:xfrm>
            <a:off x="758309" y="5518904"/>
            <a:ext cx="13113782" cy="303252"/>
          </a:xfrm>
          <a:prstGeom prst="rect">
            <a:avLst/>
          </a:prstGeom>
          <a:noFill/>
          <a:ln/>
        </p:spPr>
        <p:txBody>
          <a:bodyPr wrap="none" lIns="0" tIns="0" rIns="0" bIns="0" rtlCol="0" anchor="t"/>
          <a:lstStyle/>
          <a:p>
            <a:pPr algn="l" indent="0" marL="0">
              <a:lnSpc>
                <a:spcPts val="2350"/>
              </a:lnSpc>
              <a:buNone/>
            </a:pP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1999" y="517803"/>
            <a:ext cx="4947642" cy="618530"/>
          </a:xfrm>
          <a:prstGeom prst="rect">
            <a:avLst/>
          </a:prstGeom>
          <a:noFill/>
          <a:ln/>
        </p:spPr>
        <p:txBody>
          <a:bodyPr wrap="none" lIns="0" tIns="0" rIns="0" bIns="0" rtlCol="0" anchor="t"/>
          <a:lstStyle/>
          <a:p>
            <a:pPr algn="l" indent="0" marL="0">
              <a:lnSpc>
                <a:spcPts val="4850"/>
              </a:lnSpc>
              <a:buNone/>
            </a:pPr>
            <a:r>
              <a:rPr lang="en-US" sz="3850" b="1" dirty="0">
                <a:solidFill>
                  <a:srgbClr val="7068F4"/>
                </a:solidFill>
                <a:latin typeface="Barlow Bold" pitchFamily="34" charset="0"/>
                <a:ea typeface="Barlow Bold" pitchFamily="34" charset="-122"/>
                <a:cs typeface="Barlow Bold" pitchFamily="34" charset="-120"/>
              </a:rPr>
              <a:t>Future Improvements</a:t>
            </a:r>
            <a:endParaRPr lang="en-US" sz="3850" dirty="0"/>
          </a:p>
        </p:txBody>
      </p:sp>
      <p:pic>
        <p:nvPicPr>
          <p:cNvPr id="3" name="Image 0" descr="preencoded.png">    </p:cNvPr>
          <p:cNvPicPr>
            <a:picLocks noChangeAspect="1"/>
          </p:cNvPicPr>
          <p:nvPr/>
        </p:nvPicPr>
        <p:blipFill>
          <a:blip r:embed="rId1"/>
          <a:stretch>
            <a:fillRect/>
          </a:stretch>
        </p:blipFill>
        <p:spPr>
          <a:xfrm>
            <a:off x="751999" y="1512332"/>
            <a:ext cx="939998" cy="1399461"/>
          </a:xfrm>
          <a:prstGeom prst="rect">
            <a:avLst/>
          </a:prstGeom>
        </p:spPr>
      </p:pic>
      <p:sp>
        <p:nvSpPr>
          <p:cNvPr id="4" name="Text 1"/>
          <p:cNvSpPr/>
          <p:nvPr/>
        </p:nvSpPr>
        <p:spPr>
          <a:xfrm>
            <a:off x="1879997" y="1700332"/>
            <a:ext cx="2473762" cy="309205"/>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Export to CSV</a:t>
            </a:r>
            <a:endParaRPr lang="en-US" sz="1900" dirty="0"/>
          </a:p>
        </p:txBody>
      </p:sp>
      <p:sp>
        <p:nvSpPr>
          <p:cNvPr id="5" name="Text 2"/>
          <p:cNvSpPr/>
          <p:nvPr/>
        </p:nvSpPr>
        <p:spPr>
          <a:xfrm>
            <a:off x="1879997" y="2122289"/>
            <a:ext cx="11998404" cy="601504"/>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Implement functionality to export all transaction data into a CSV (Comma Separated Values) file. This will allow users to easily import their financial data into other spreadsheet software or accounting tools for further analysis or record-keeping.</a:t>
            </a:r>
            <a:endParaRPr lang="en-US" sz="1450" dirty="0"/>
          </a:p>
        </p:txBody>
      </p:sp>
      <p:pic>
        <p:nvPicPr>
          <p:cNvPr id="6" name="Image 1" descr="preencoded.png">    </p:cNvPr>
          <p:cNvPicPr>
            <a:picLocks noChangeAspect="1"/>
          </p:cNvPicPr>
          <p:nvPr/>
        </p:nvPicPr>
        <p:blipFill>
          <a:blip r:embed="rId2"/>
          <a:stretch>
            <a:fillRect/>
          </a:stretch>
        </p:blipFill>
        <p:spPr>
          <a:xfrm>
            <a:off x="751999" y="2911792"/>
            <a:ext cx="939998" cy="1700213"/>
          </a:xfrm>
          <a:prstGeom prst="rect">
            <a:avLst/>
          </a:prstGeom>
        </p:spPr>
      </p:pic>
      <p:sp>
        <p:nvSpPr>
          <p:cNvPr id="7" name="Text 3"/>
          <p:cNvSpPr/>
          <p:nvPr/>
        </p:nvSpPr>
        <p:spPr>
          <a:xfrm>
            <a:off x="1879997" y="3099792"/>
            <a:ext cx="3050381" cy="309205"/>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Monthly/Category Analytics</a:t>
            </a:r>
            <a:endParaRPr lang="en-US" sz="1900" dirty="0"/>
          </a:p>
        </p:txBody>
      </p:sp>
      <p:sp>
        <p:nvSpPr>
          <p:cNvPr id="8" name="Text 4"/>
          <p:cNvSpPr/>
          <p:nvPr/>
        </p:nvSpPr>
        <p:spPr>
          <a:xfrm>
            <a:off x="1879997" y="3521750"/>
            <a:ext cx="11998404" cy="902256"/>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Develop advanced analytical features to provide deeper insights into spending patterns. This includes generating reports that break down income and expenses by month and by specific categories, helping users identify trends and areas for financial adjustment.</a:t>
            </a:r>
            <a:endParaRPr lang="en-US" sz="1450" dirty="0"/>
          </a:p>
        </p:txBody>
      </p:sp>
      <p:pic>
        <p:nvPicPr>
          <p:cNvPr id="9" name="Image 2" descr="preencoded.png">    </p:cNvPr>
          <p:cNvPicPr>
            <a:picLocks noChangeAspect="1"/>
          </p:cNvPicPr>
          <p:nvPr/>
        </p:nvPicPr>
        <p:blipFill>
          <a:blip r:embed="rId3"/>
          <a:stretch>
            <a:fillRect/>
          </a:stretch>
        </p:blipFill>
        <p:spPr>
          <a:xfrm>
            <a:off x="751999" y="4612005"/>
            <a:ext cx="939998" cy="1700213"/>
          </a:xfrm>
          <a:prstGeom prst="rect">
            <a:avLst/>
          </a:prstGeom>
        </p:spPr>
      </p:pic>
      <p:sp>
        <p:nvSpPr>
          <p:cNvPr id="10" name="Text 5"/>
          <p:cNvSpPr/>
          <p:nvPr/>
        </p:nvSpPr>
        <p:spPr>
          <a:xfrm>
            <a:off x="1879997" y="4800005"/>
            <a:ext cx="2473762" cy="309205"/>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GUI using Qt</a:t>
            </a:r>
            <a:endParaRPr lang="en-US" sz="1900" dirty="0"/>
          </a:p>
        </p:txBody>
      </p:sp>
      <p:sp>
        <p:nvSpPr>
          <p:cNvPr id="11" name="Text 6"/>
          <p:cNvSpPr/>
          <p:nvPr/>
        </p:nvSpPr>
        <p:spPr>
          <a:xfrm>
            <a:off x="1879997" y="5221962"/>
            <a:ext cx="11998404" cy="902256"/>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Transition the command-line interface to a modern Graphical User Interface (GUI) using the Qt framework. A GUI will enhance user experience with visual elements, intuitive navigation, and a more interactive environment, making the application more accessible and user-friendly.</a:t>
            </a:r>
            <a:endParaRPr lang="en-US" sz="1450" dirty="0"/>
          </a:p>
        </p:txBody>
      </p:sp>
      <p:pic>
        <p:nvPicPr>
          <p:cNvPr id="12" name="Image 3" descr="preencoded.png">    </p:cNvPr>
          <p:cNvPicPr>
            <a:picLocks noChangeAspect="1"/>
          </p:cNvPicPr>
          <p:nvPr/>
        </p:nvPicPr>
        <p:blipFill>
          <a:blip r:embed="rId4"/>
          <a:stretch>
            <a:fillRect/>
          </a:stretch>
        </p:blipFill>
        <p:spPr>
          <a:xfrm>
            <a:off x="751999" y="6312218"/>
            <a:ext cx="939998" cy="1399461"/>
          </a:xfrm>
          <a:prstGeom prst="rect">
            <a:avLst/>
          </a:prstGeom>
        </p:spPr>
      </p:pic>
      <p:sp>
        <p:nvSpPr>
          <p:cNvPr id="13" name="Text 7"/>
          <p:cNvSpPr/>
          <p:nvPr/>
        </p:nvSpPr>
        <p:spPr>
          <a:xfrm>
            <a:off x="1879997" y="6500217"/>
            <a:ext cx="2473762" cy="309205"/>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Barlow Bold" pitchFamily="34" charset="0"/>
                <a:ea typeface="Barlow Bold" pitchFamily="34" charset="-122"/>
                <a:cs typeface="Barlow Bold" pitchFamily="34" charset="-120"/>
              </a:rPr>
              <a:t>More Input Validation</a:t>
            </a:r>
            <a:endParaRPr lang="en-US" sz="1900" dirty="0"/>
          </a:p>
        </p:txBody>
      </p:sp>
      <p:sp>
        <p:nvSpPr>
          <p:cNvPr id="14" name="Text 8"/>
          <p:cNvSpPr/>
          <p:nvPr/>
        </p:nvSpPr>
        <p:spPr>
          <a:xfrm>
            <a:off x="1879997" y="6922175"/>
            <a:ext cx="11998404" cy="601504"/>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Montserrat" pitchFamily="34" charset="0"/>
                <a:ea typeface="Montserrat" pitchFamily="34" charset="-122"/>
                <a:cs typeface="Montserrat" pitchFamily="34" charset="-120"/>
              </a:rPr>
              <a:t>Strengthen the input validation mechanisms to ensure that all user entries are accurate and in the correct format. This will prevent data corruption, improve the reliability of the application, and provide clear feedback to users on invalid inputs.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8309" y="3963114"/>
            <a:ext cx="13113782" cy="303252"/>
          </a:xfrm>
          <a:prstGeom prst="rect">
            <a:avLst/>
          </a:prstGeom>
          <a:noFill/>
          <a:ln/>
        </p:spPr>
        <p:txBody>
          <a:bodyPr wrap="none" lIns="0" tIns="0" rIns="0" bIns="0" rtlCol="0" anchor="t"/>
          <a:lstStyle/>
          <a:p>
            <a:pPr algn="l" indent="0" marL="0">
              <a:lnSpc>
                <a:spcPts val="2350"/>
              </a:lnSpc>
              <a:buNone/>
            </a:pP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2025-07-23T22:24:08Z</dcterms:created>
  <dcterms:modified xsi:type="dcterms:W3CDTF">2025-07-23T22:24:08Z</dcterms:modified>
</cp:coreProperties>
</file>